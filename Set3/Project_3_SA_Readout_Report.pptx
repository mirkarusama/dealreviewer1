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
  </p:notesMasterIdLst>
  <p:sldIdLst>
    <p:sldId id="256" r:id="rId5"/>
    <p:sldId id="257" r:id="rId6"/>
    <p:sldId id="259" r:id="rId7"/>
  </p:sldIdLst>
  <p:sldSz cx="16256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CF605E-E5FB-47CD-B8E9-A274BA190C60}" v="3995" dt="2026-07-16T14:33:47.109"/>
    <p1510:client id="{C30070E4-A72F-46DE-A155-4FFABD9448B3}" v="450" dt="2026-07-16T13:51:47.735"/>
    <p1510:client id="{D6000F4B-F22D-8EB9-BEB4-44DDE8447E30}" v="189" dt="2026-07-16T13:30:52.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rthi, Phani" userId="S::pgorthi@deloitte.com::5c680bf0-650f-4d6a-9f30-9b1693b58036" providerId="AD" clId="Web-{D6000F4B-F22D-8EB9-BEB4-44DDE8447E30}"/>
    <pc:docChg chg="modSld">
      <pc:chgData name="Gorthi, Phani" userId="S::pgorthi@deloitte.com::5c680bf0-650f-4d6a-9f30-9b1693b58036" providerId="AD" clId="Web-{D6000F4B-F22D-8EB9-BEB4-44DDE8447E30}" dt="2026-07-16T13:30:52.551" v="161"/>
      <pc:docMkLst>
        <pc:docMk/>
      </pc:docMkLst>
      <pc:sldChg chg="modSp">
        <pc:chgData name="Gorthi, Phani" userId="S::pgorthi@deloitte.com::5c680bf0-650f-4d6a-9f30-9b1693b58036" providerId="AD" clId="Web-{D6000F4B-F22D-8EB9-BEB4-44DDE8447E30}" dt="2026-07-16T13:29:39.704" v="133"/>
        <pc:sldMkLst>
          <pc:docMk/>
          <pc:sldMk cId="0" sldId="256"/>
        </pc:sldMkLst>
        <pc:spChg chg="mod">
          <ac:chgData name="Gorthi, Phani" userId="S::pgorthi@deloitte.com::5c680bf0-650f-4d6a-9f30-9b1693b58036" providerId="AD" clId="Web-{D6000F4B-F22D-8EB9-BEB4-44DDE8447E30}" dt="2026-07-16T13:18:28.332" v="52" actId="1076"/>
          <ac:spMkLst>
            <pc:docMk/>
            <pc:sldMk cId="0" sldId="256"/>
            <ac:spMk id="9" creationId="{00000000-0000-0000-0000-000000000000}"/>
          </ac:spMkLst>
        </pc:spChg>
        <pc:spChg chg="mod">
          <ac:chgData name="Gorthi, Phani" userId="S::pgorthi@deloitte.com::5c680bf0-650f-4d6a-9f30-9b1693b58036" providerId="AD" clId="Web-{D6000F4B-F22D-8EB9-BEB4-44DDE8447E30}" dt="2026-07-16T13:18:23.754" v="50" actId="1076"/>
          <ac:spMkLst>
            <pc:docMk/>
            <pc:sldMk cId="0" sldId="256"/>
            <ac:spMk id="17" creationId="{49E22D45-BE43-5EC3-C5F6-7B1DEB61C90F}"/>
          </ac:spMkLst>
        </pc:spChg>
        <pc:spChg chg="mod">
          <ac:chgData name="Gorthi, Phani" userId="S::pgorthi@deloitte.com::5c680bf0-650f-4d6a-9f30-9b1693b58036" providerId="AD" clId="Web-{D6000F4B-F22D-8EB9-BEB4-44DDE8447E30}" dt="2026-07-16T13:18:25.317" v="51" actId="1076"/>
          <ac:spMkLst>
            <pc:docMk/>
            <pc:sldMk cId="0" sldId="256"/>
            <ac:spMk id="18" creationId="{12A8B974-13FE-C4F0-BADD-3183AC4B878E}"/>
          </ac:spMkLst>
        </pc:spChg>
        <pc:graphicFrameChg chg="mod modGraphic">
          <ac:chgData name="Gorthi, Phani" userId="S::pgorthi@deloitte.com::5c680bf0-650f-4d6a-9f30-9b1693b58036" providerId="AD" clId="Web-{D6000F4B-F22D-8EB9-BEB4-44DDE8447E30}" dt="2026-07-16T13:29:03.312" v="128"/>
          <ac:graphicFrameMkLst>
            <pc:docMk/>
            <pc:sldMk cId="0" sldId="256"/>
            <ac:graphicFrameMk id="8" creationId="{00000000-0000-0000-0000-000000000000}"/>
          </ac:graphicFrameMkLst>
        </pc:graphicFrameChg>
        <pc:graphicFrameChg chg="mod modGraphic">
          <ac:chgData name="Gorthi, Phani" userId="S::pgorthi@deloitte.com::5c680bf0-650f-4d6a-9f30-9b1693b58036" providerId="AD" clId="Web-{D6000F4B-F22D-8EB9-BEB4-44DDE8447E30}" dt="2026-07-16T13:29:39.704" v="133"/>
          <ac:graphicFrameMkLst>
            <pc:docMk/>
            <pc:sldMk cId="0" sldId="256"/>
            <ac:graphicFrameMk id="12" creationId="{00000000-0000-0000-0000-000000000000}"/>
          </ac:graphicFrameMkLst>
        </pc:graphicFrameChg>
      </pc:sldChg>
      <pc:sldChg chg="modSp">
        <pc:chgData name="Gorthi, Phani" userId="S::pgorthi@deloitte.com::5c680bf0-650f-4d6a-9f30-9b1693b58036" providerId="AD" clId="Web-{D6000F4B-F22D-8EB9-BEB4-44DDE8447E30}" dt="2026-07-16T13:30:22.925" v="151"/>
        <pc:sldMkLst>
          <pc:docMk/>
          <pc:sldMk cId="0" sldId="257"/>
        </pc:sldMkLst>
        <pc:graphicFrameChg chg="mod modGraphic">
          <ac:chgData name="Gorthi, Phani" userId="S::pgorthi@deloitte.com::5c680bf0-650f-4d6a-9f30-9b1693b58036" providerId="AD" clId="Web-{D6000F4B-F22D-8EB9-BEB4-44DDE8447E30}" dt="2026-07-16T13:30:22.925" v="151"/>
          <ac:graphicFrameMkLst>
            <pc:docMk/>
            <pc:sldMk cId="0" sldId="257"/>
            <ac:graphicFrameMk id="3" creationId="{00000000-0000-0000-0000-000000000000}"/>
          </ac:graphicFrameMkLst>
        </pc:graphicFrameChg>
      </pc:sldChg>
      <pc:sldChg chg="modSp">
        <pc:chgData name="Gorthi, Phani" userId="S::pgorthi@deloitte.com::5c680bf0-650f-4d6a-9f30-9b1693b58036" providerId="AD" clId="Web-{D6000F4B-F22D-8EB9-BEB4-44DDE8447E30}" dt="2026-07-16T13:30:52.551" v="161"/>
        <pc:sldMkLst>
          <pc:docMk/>
          <pc:sldMk cId="0" sldId="258"/>
        </pc:sldMkLst>
        <pc:graphicFrameChg chg="mod modGraphic">
          <ac:chgData name="Gorthi, Phani" userId="S::pgorthi@deloitte.com::5c680bf0-650f-4d6a-9f30-9b1693b58036" providerId="AD" clId="Web-{D6000F4B-F22D-8EB9-BEB4-44DDE8447E30}" dt="2026-07-16T13:30:52.551" v="161"/>
          <ac:graphicFrameMkLst>
            <pc:docMk/>
            <pc:sldMk cId="0" sldId="258"/>
            <ac:graphicFrameMk id="3" creationId="{00000000-0000-0000-0000-000000000000}"/>
          </ac:graphicFrameMkLst>
        </pc:graphicFrameChg>
      </pc:sldChg>
      <pc:sldChg chg="modSp">
        <pc:chgData name="Gorthi, Phani" userId="S::pgorthi@deloitte.com::5c680bf0-650f-4d6a-9f30-9b1693b58036" providerId="AD" clId="Web-{D6000F4B-F22D-8EB9-BEB4-44DDE8447E30}" dt="2026-07-16T13:18:16.191" v="49"/>
        <pc:sldMkLst>
          <pc:docMk/>
          <pc:sldMk cId="0" sldId="260"/>
        </pc:sldMkLst>
        <pc:graphicFrameChg chg="mod modGraphic">
          <ac:chgData name="Gorthi, Phani" userId="S::pgorthi@deloitte.com::5c680bf0-650f-4d6a-9f30-9b1693b58036" providerId="AD" clId="Web-{D6000F4B-F22D-8EB9-BEB4-44DDE8447E30}" dt="2026-07-16T13:18:16.191" v="49"/>
          <ac:graphicFrameMkLst>
            <pc:docMk/>
            <pc:sldMk cId="0" sldId="260"/>
            <ac:graphicFrameMk id="3" creationId="{00000000-0000-0000-0000-000000000000}"/>
          </ac:graphicFrameMkLst>
        </pc:graphicFrameChg>
      </pc:sldChg>
    </pc:docChg>
  </pc:docChgLst>
  <pc:docChgLst>
    <pc:chgData name="Gorthi, Phani" userId="5c680bf0-650f-4d6a-9f30-9b1693b58036" providerId="ADAL" clId="{AE46B50F-2981-49E2-8960-A0AA13461588}"/>
    <pc:docChg chg="undo custSel modSld">
      <pc:chgData name="Gorthi, Phani" userId="5c680bf0-650f-4d6a-9f30-9b1693b58036" providerId="ADAL" clId="{AE46B50F-2981-49E2-8960-A0AA13461588}" dt="2026-07-16T13:51:47.735" v="449" actId="1036"/>
      <pc:docMkLst>
        <pc:docMk/>
      </pc:docMkLst>
      <pc:sldChg chg="modSp mod">
        <pc:chgData name="Gorthi, Phani" userId="5c680bf0-650f-4d6a-9f30-9b1693b58036" providerId="ADAL" clId="{AE46B50F-2981-49E2-8960-A0AA13461588}" dt="2026-07-16T13:51:47.735" v="449" actId="1036"/>
        <pc:sldMkLst>
          <pc:docMk/>
          <pc:sldMk cId="0" sldId="256"/>
        </pc:sldMkLst>
        <pc:spChg chg="mod">
          <ac:chgData name="Gorthi, Phani" userId="5c680bf0-650f-4d6a-9f30-9b1693b58036" providerId="ADAL" clId="{AE46B50F-2981-49E2-8960-A0AA13461588}" dt="2026-07-16T13:51:47.735" v="449" actId="1036"/>
          <ac:spMkLst>
            <pc:docMk/>
            <pc:sldMk cId="0" sldId="256"/>
            <ac:spMk id="17" creationId="{49E22D45-BE43-5EC3-C5F6-7B1DEB61C90F}"/>
          </ac:spMkLst>
        </pc:spChg>
        <pc:graphicFrameChg chg="modGraphic">
          <ac:chgData name="Gorthi, Phani" userId="5c680bf0-650f-4d6a-9f30-9b1693b58036" providerId="ADAL" clId="{AE46B50F-2981-49E2-8960-A0AA13461588}" dt="2026-07-16T13:50:18.738" v="430" actId="255"/>
          <ac:graphicFrameMkLst>
            <pc:docMk/>
            <pc:sldMk cId="0" sldId="256"/>
            <ac:graphicFrameMk id="8" creationId="{00000000-0000-0000-0000-000000000000}"/>
          </ac:graphicFrameMkLst>
        </pc:graphicFrameChg>
        <pc:graphicFrameChg chg="mod modGraphic">
          <ac:chgData name="Gorthi, Phani" userId="5c680bf0-650f-4d6a-9f30-9b1693b58036" providerId="ADAL" clId="{AE46B50F-2981-49E2-8960-A0AA13461588}" dt="2026-07-16T13:51:06.529" v="434" actId="20577"/>
          <ac:graphicFrameMkLst>
            <pc:docMk/>
            <pc:sldMk cId="0" sldId="256"/>
            <ac:graphicFrameMk id="12" creationId="{00000000-0000-0000-0000-000000000000}"/>
          </ac:graphicFrameMkLst>
        </pc:graphicFrameChg>
      </pc:sldChg>
      <pc:sldChg chg="modSp mod">
        <pc:chgData name="Gorthi, Phani" userId="5c680bf0-650f-4d6a-9f30-9b1693b58036" providerId="ADAL" clId="{AE46B50F-2981-49E2-8960-A0AA13461588}" dt="2026-07-16T13:46:16.619" v="393" actId="20577"/>
        <pc:sldMkLst>
          <pc:docMk/>
          <pc:sldMk cId="0" sldId="260"/>
        </pc:sldMkLst>
        <pc:graphicFrameChg chg="modGraphic">
          <ac:chgData name="Gorthi, Phani" userId="5c680bf0-650f-4d6a-9f30-9b1693b58036" providerId="ADAL" clId="{AE46B50F-2981-49E2-8960-A0AA13461588}" dt="2026-07-16T13:46:16.619" v="393" actId="20577"/>
          <ac:graphicFrameMkLst>
            <pc:docMk/>
            <pc:sldMk cId="0" sldId="260"/>
            <ac:graphicFrameMk id="3" creationId="{00000000-0000-0000-0000-000000000000}"/>
          </ac:graphicFrameMkLst>
        </pc:graphicFrameChg>
      </pc:sldChg>
    </pc:docChg>
  </pc:docChgLst>
  <pc:docChgLst>
    <pc:chgData name="Author 1" userId="" providerId="ADAL" clId="{5931C679-6ED4-4925-BB1B-BD8DB4A240FF}"/>
    <pc:docChg chg="undo custSel delSld modSld">
      <pc:chgData name="Author 1" userId="" providerId="ADAL" clId="{5931C679-6ED4-4925-BB1B-BD8DB4A240FF}" dt="2026-07-16T14:33:47.108" v="3994" actId="47"/>
      <pc:docMkLst>
        <pc:docMk/>
      </pc:docMkLst>
      <pc:sldChg chg="addSp delSp modSp mod">
        <pc:chgData name="Author 1" userId="" providerId="ADAL" clId="{5931C679-6ED4-4925-BB1B-BD8DB4A240FF}" dt="2026-07-16T14:30:21.809" v="3854" actId="20577"/>
        <pc:sldMkLst>
          <pc:docMk/>
          <pc:sldMk cId="0" sldId="256"/>
        </pc:sldMkLst>
        <pc:spChg chg="mod">
          <ac:chgData name="Author 1" userId="" providerId="ADAL" clId="{5931C679-6ED4-4925-BB1B-BD8DB4A240FF}" dt="2026-07-16T13:51:35.183" v="1991" actId="20577"/>
          <ac:spMkLst>
            <pc:docMk/>
            <pc:sldMk cId="0" sldId="256"/>
            <ac:spMk id="2" creationId="{00000000-0000-0000-0000-000000000000}"/>
          </ac:spMkLst>
        </pc:spChg>
        <pc:spChg chg="del">
          <ac:chgData name="Author 1" userId="" providerId="ADAL" clId="{5931C679-6ED4-4925-BB1B-BD8DB4A240FF}" dt="2026-07-16T14:02:49.322" v="3346" actId="478"/>
          <ac:spMkLst>
            <pc:docMk/>
            <pc:sldMk cId="0" sldId="256"/>
            <ac:spMk id="4" creationId="{00000000-0000-0000-0000-000000000000}"/>
          </ac:spMkLst>
        </pc:spChg>
        <pc:spChg chg="mod">
          <ac:chgData name="Author 1" userId="" providerId="ADAL" clId="{5931C679-6ED4-4925-BB1B-BD8DB4A240FF}" dt="2026-07-16T14:02:32.346" v="3342" actId="208"/>
          <ac:spMkLst>
            <pc:docMk/>
            <pc:sldMk cId="0" sldId="256"/>
            <ac:spMk id="5" creationId="{00000000-0000-0000-0000-000000000000}"/>
          </ac:spMkLst>
        </pc:spChg>
        <pc:spChg chg="mod">
          <ac:chgData name="Author 1" userId="" providerId="ADAL" clId="{5931C679-6ED4-4925-BB1B-BD8DB4A240FF}" dt="2026-07-16T14:03:18.652" v="3351" actId="208"/>
          <ac:spMkLst>
            <pc:docMk/>
            <pc:sldMk cId="0" sldId="256"/>
            <ac:spMk id="6" creationId="{00000000-0000-0000-0000-000000000000}"/>
          </ac:spMkLst>
        </pc:spChg>
        <pc:spChg chg="mod">
          <ac:chgData name="Author 1" userId="" providerId="ADAL" clId="{5931C679-6ED4-4925-BB1B-BD8DB4A240FF}" dt="2026-07-16T14:02:44.702" v="3345" actId="208"/>
          <ac:spMkLst>
            <pc:docMk/>
            <pc:sldMk cId="0" sldId="256"/>
            <ac:spMk id="7" creationId="{00000000-0000-0000-0000-000000000000}"/>
          </ac:spMkLst>
        </pc:spChg>
        <pc:spChg chg="mod">
          <ac:chgData name="Author 1" userId="" providerId="ADAL" clId="{5931C679-6ED4-4925-BB1B-BD8DB4A240FF}" dt="2026-07-16T13:21:35.567" v="329" actId="208"/>
          <ac:spMkLst>
            <pc:docMk/>
            <pc:sldMk cId="0" sldId="256"/>
            <ac:spMk id="9" creationId="{00000000-0000-0000-0000-000000000000}"/>
          </ac:spMkLst>
        </pc:spChg>
        <pc:spChg chg="del">
          <ac:chgData name="Author 1" userId="" providerId="ADAL" clId="{5931C679-6ED4-4925-BB1B-BD8DB4A240FF}" dt="2026-07-16T13:08:55.453" v="2" actId="478"/>
          <ac:spMkLst>
            <pc:docMk/>
            <pc:sldMk cId="0" sldId="256"/>
            <ac:spMk id="10" creationId="{00000000-0000-0000-0000-000000000000}"/>
          </ac:spMkLst>
        </pc:spChg>
        <pc:spChg chg="add mod">
          <ac:chgData name="Author 1" userId="" providerId="ADAL" clId="{5931C679-6ED4-4925-BB1B-BD8DB4A240FF}" dt="2026-07-16T14:01:25.733" v="3326" actId="1076"/>
          <ac:spMkLst>
            <pc:docMk/>
            <pc:sldMk cId="0" sldId="256"/>
            <ac:spMk id="10" creationId="{BE41E916-8632-8D71-A9A0-F3926642039E}"/>
          </ac:spMkLst>
        </pc:spChg>
        <pc:spChg chg="del">
          <ac:chgData name="Author 1" userId="" providerId="ADAL" clId="{5931C679-6ED4-4925-BB1B-BD8DB4A240FF}" dt="2026-07-16T13:08:57.116" v="3" actId="478"/>
          <ac:spMkLst>
            <pc:docMk/>
            <pc:sldMk cId="0" sldId="256"/>
            <ac:spMk id="11" creationId="{00000000-0000-0000-0000-000000000000}"/>
          </ac:spMkLst>
        </pc:spChg>
        <pc:spChg chg="add mod">
          <ac:chgData name="Author 1" userId="" providerId="ADAL" clId="{5931C679-6ED4-4925-BB1B-BD8DB4A240FF}" dt="2026-07-16T14:02:18.025" v="3339" actId="208"/>
          <ac:spMkLst>
            <pc:docMk/>
            <pc:sldMk cId="0" sldId="256"/>
            <ac:spMk id="11" creationId="{49F749AF-CC73-7BE4-F254-94DA806DD587}"/>
          </ac:spMkLst>
        </pc:spChg>
        <pc:spChg chg="del">
          <ac:chgData name="Author 1" userId="" providerId="ADAL" clId="{5931C679-6ED4-4925-BB1B-BD8DB4A240FF}" dt="2026-07-16T13:08:58.856" v="4" actId="478"/>
          <ac:spMkLst>
            <pc:docMk/>
            <pc:sldMk cId="0" sldId="256"/>
            <ac:spMk id="13" creationId="{00000000-0000-0000-0000-000000000000}"/>
          </ac:spMkLst>
        </pc:spChg>
        <pc:spChg chg="add mod">
          <ac:chgData name="Author 1" userId="" providerId="ADAL" clId="{5931C679-6ED4-4925-BB1B-BD8DB4A240FF}" dt="2026-07-16T14:01:44.155" v="3332" actId="1037"/>
          <ac:spMkLst>
            <pc:docMk/>
            <pc:sldMk cId="0" sldId="256"/>
            <ac:spMk id="13" creationId="{C39E46A6-95F2-4119-FB29-40A0D6A09E5B}"/>
          </ac:spMkLst>
        </pc:spChg>
        <pc:spChg chg="del">
          <ac:chgData name="Author 1" userId="" providerId="ADAL" clId="{5931C679-6ED4-4925-BB1B-BD8DB4A240FF}" dt="2026-07-16T13:09:00.777" v="5" actId="478"/>
          <ac:spMkLst>
            <pc:docMk/>
            <pc:sldMk cId="0" sldId="256"/>
            <ac:spMk id="14" creationId="{00000000-0000-0000-0000-000000000000}"/>
          </ac:spMkLst>
        </pc:spChg>
        <pc:spChg chg="add mod">
          <ac:chgData name="Author 1" userId="" providerId="ADAL" clId="{5931C679-6ED4-4925-BB1B-BD8DB4A240FF}" dt="2026-07-16T14:02:09.982" v="3337" actId="208"/>
          <ac:spMkLst>
            <pc:docMk/>
            <pc:sldMk cId="0" sldId="256"/>
            <ac:spMk id="14" creationId="{6969CBC6-A983-83A7-7AA7-40FC5459631A}"/>
          </ac:spMkLst>
        </pc:spChg>
        <pc:spChg chg="del">
          <ac:chgData name="Author 1" userId="" providerId="ADAL" clId="{5931C679-6ED4-4925-BB1B-BD8DB4A240FF}" dt="2026-07-16T13:09:02.576" v="6" actId="478"/>
          <ac:spMkLst>
            <pc:docMk/>
            <pc:sldMk cId="0" sldId="256"/>
            <ac:spMk id="15" creationId="{00000000-0000-0000-0000-000000000000}"/>
          </ac:spMkLst>
        </pc:spChg>
        <pc:spChg chg="add mod">
          <ac:chgData name="Author 1" userId="" providerId="ADAL" clId="{5931C679-6ED4-4925-BB1B-BD8DB4A240FF}" dt="2026-07-16T14:02:56.983" v="3348" actId="1076"/>
          <ac:spMkLst>
            <pc:docMk/>
            <pc:sldMk cId="0" sldId="256"/>
            <ac:spMk id="15" creationId="{FC9FAF40-B575-632F-AF1A-953ECB626BDA}"/>
          </ac:spMkLst>
        </pc:spChg>
        <pc:spChg chg="del">
          <ac:chgData name="Author 1" userId="" providerId="ADAL" clId="{5931C679-6ED4-4925-BB1B-BD8DB4A240FF}" dt="2026-07-16T13:09:04.405" v="7" actId="478"/>
          <ac:spMkLst>
            <pc:docMk/>
            <pc:sldMk cId="0" sldId="256"/>
            <ac:spMk id="16" creationId="{00000000-0000-0000-0000-000000000000}"/>
          </ac:spMkLst>
        </pc:spChg>
        <pc:spChg chg="add mod">
          <ac:chgData name="Author 1" userId="" providerId="ADAL" clId="{5931C679-6ED4-4925-BB1B-BD8DB4A240FF}" dt="2026-07-16T14:15:59.338" v="3766" actId="1036"/>
          <ac:spMkLst>
            <pc:docMk/>
            <pc:sldMk cId="0" sldId="256"/>
            <ac:spMk id="17" creationId="{49E22D45-BE43-5EC3-C5F6-7B1DEB61C90F}"/>
          </ac:spMkLst>
        </pc:spChg>
        <pc:spChg chg="add mod">
          <ac:chgData name="Author 1" userId="" providerId="ADAL" clId="{5931C679-6ED4-4925-BB1B-BD8DB4A240FF}" dt="2026-07-16T14:15:56.074" v="3755" actId="1036"/>
          <ac:spMkLst>
            <pc:docMk/>
            <pc:sldMk cId="0" sldId="256"/>
            <ac:spMk id="18" creationId="{12A8B974-13FE-C4F0-BADD-3183AC4B878E}"/>
          </ac:spMkLst>
        </pc:spChg>
        <pc:graphicFrameChg chg="mod modGraphic">
          <ac:chgData name="Author 1" userId="" providerId="ADAL" clId="{5931C679-6ED4-4925-BB1B-BD8DB4A240FF}" dt="2026-07-16T14:15:49.235" v="3742" actId="20577"/>
          <ac:graphicFrameMkLst>
            <pc:docMk/>
            <pc:sldMk cId="0" sldId="256"/>
            <ac:graphicFrameMk id="8" creationId="{00000000-0000-0000-0000-000000000000}"/>
          </ac:graphicFrameMkLst>
        </pc:graphicFrameChg>
        <pc:graphicFrameChg chg="mod modGraphic">
          <ac:chgData name="Author 1" userId="" providerId="ADAL" clId="{5931C679-6ED4-4925-BB1B-BD8DB4A240FF}" dt="2026-07-16T14:30:21.809" v="3854" actId="20577"/>
          <ac:graphicFrameMkLst>
            <pc:docMk/>
            <pc:sldMk cId="0" sldId="256"/>
            <ac:graphicFrameMk id="12" creationId="{00000000-0000-0000-0000-000000000000}"/>
          </ac:graphicFrameMkLst>
        </pc:graphicFrameChg>
      </pc:sldChg>
      <pc:sldChg chg="addSp modSp mod">
        <pc:chgData name="Author 1" userId="" providerId="ADAL" clId="{5931C679-6ED4-4925-BB1B-BD8DB4A240FF}" dt="2026-07-16T14:12:26.413" v="3694" actId="20577"/>
        <pc:sldMkLst>
          <pc:docMk/>
          <pc:sldMk cId="0" sldId="257"/>
        </pc:sldMkLst>
        <pc:spChg chg="mod">
          <ac:chgData name="Author 1" userId="" providerId="ADAL" clId="{5931C679-6ED4-4925-BB1B-BD8DB4A240FF}" dt="2026-07-16T13:51:45.980" v="1994" actId="20577"/>
          <ac:spMkLst>
            <pc:docMk/>
            <pc:sldMk cId="0" sldId="257"/>
            <ac:spMk id="2" creationId="{00000000-0000-0000-0000-000000000000}"/>
          </ac:spMkLst>
        </pc:spChg>
        <pc:spChg chg="add mod">
          <ac:chgData name="Author 1" userId="" providerId="ADAL" clId="{5931C679-6ED4-4925-BB1B-BD8DB4A240FF}" dt="2026-07-16T14:03:38.835" v="3358" actId="1036"/>
          <ac:spMkLst>
            <pc:docMk/>
            <pc:sldMk cId="0" sldId="257"/>
            <ac:spMk id="5" creationId="{FF257A1D-5417-E70B-94C2-FB8A8B33EC1A}"/>
          </ac:spMkLst>
        </pc:spChg>
        <pc:spChg chg="add mod">
          <ac:chgData name="Author 1" userId="" providerId="ADAL" clId="{5931C679-6ED4-4925-BB1B-BD8DB4A240FF}" dt="2026-07-16T14:04:11.254" v="3433" actId="1035"/>
          <ac:spMkLst>
            <pc:docMk/>
            <pc:sldMk cId="0" sldId="257"/>
            <ac:spMk id="6" creationId="{6C9E5669-D949-5B12-EF04-45EF74F45E77}"/>
          </ac:spMkLst>
        </pc:spChg>
        <pc:graphicFrameChg chg="modGraphic">
          <ac:chgData name="Author 1" userId="" providerId="ADAL" clId="{5931C679-6ED4-4925-BB1B-BD8DB4A240FF}" dt="2026-07-16T14:11:38.255" v="3691" actId="20577"/>
          <ac:graphicFrameMkLst>
            <pc:docMk/>
            <pc:sldMk cId="0" sldId="257"/>
            <ac:graphicFrameMk id="3" creationId="{00000000-0000-0000-0000-000000000000}"/>
          </ac:graphicFrameMkLst>
        </pc:graphicFrameChg>
        <pc:graphicFrameChg chg="mod modGraphic">
          <ac:chgData name="Author 1" userId="" providerId="ADAL" clId="{5931C679-6ED4-4925-BB1B-BD8DB4A240FF}" dt="2026-07-16T14:11:47.391" v="3692" actId="255"/>
          <ac:graphicFrameMkLst>
            <pc:docMk/>
            <pc:sldMk cId="0" sldId="257"/>
            <ac:graphicFrameMk id="4" creationId="{00000000-0000-0000-0000-000000000000}"/>
          </ac:graphicFrameMkLst>
        </pc:graphicFrameChg>
        <pc:graphicFrameChg chg="add mod modGraphic">
          <ac:chgData name="Author 1" userId="" providerId="ADAL" clId="{5931C679-6ED4-4925-BB1B-BD8DB4A240FF}" dt="2026-07-16T14:12:26.413" v="3694" actId="20577"/>
          <ac:graphicFrameMkLst>
            <pc:docMk/>
            <pc:sldMk cId="0" sldId="257"/>
            <ac:graphicFrameMk id="7" creationId="{E1C754DA-FBB2-D48C-6727-C43D2F06ADE0}"/>
          </ac:graphicFrameMkLst>
        </pc:graphicFrameChg>
      </pc:sldChg>
      <pc:sldChg chg="modSp del mod">
        <pc:chgData name="Author 1" userId="" providerId="ADAL" clId="{5931C679-6ED4-4925-BB1B-BD8DB4A240FF}" dt="2026-07-16T14:07:28.249" v="3487" actId="47"/>
        <pc:sldMkLst>
          <pc:docMk/>
          <pc:sldMk cId="0" sldId="258"/>
        </pc:sldMkLst>
        <pc:graphicFrameChg chg="mod modGraphic">
          <ac:chgData name="Author 1" userId="" providerId="ADAL" clId="{5931C679-6ED4-4925-BB1B-BD8DB4A240FF}" dt="2026-07-16T13:54:16.663" v="2240" actId="6549"/>
          <ac:graphicFrameMkLst>
            <pc:docMk/>
            <pc:sldMk cId="0" sldId="258"/>
            <ac:graphicFrameMk id="3" creationId="{00000000-0000-0000-0000-000000000000}"/>
          </ac:graphicFrameMkLst>
        </pc:graphicFrameChg>
      </pc:sldChg>
      <pc:sldChg chg="modSp mod">
        <pc:chgData name="Author 1" userId="" providerId="ADAL" clId="{5931C679-6ED4-4925-BB1B-BD8DB4A240FF}" dt="2026-07-16T14:33:41.550" v="3993" actId="20577"/>
        <pc:sldMkLst>
          <pc:docMk/>
          <pc:sldMk cId="0" sldId="259"/>
        </pc:sldMkLst>
        <pc:spChg chg="mod">
          <ac:chgData name="Author 1" userId="" providerId="ADAL" clId="{5931C679-6ED4-4925-BB1B-BD8DB4A240FF}" dt="2026-07-16T14:32:15.709" v="3883" actId="1035"/>
          <ac:spMkLst>
            <pc:docMk/>
            <pc:sldMk cId="0" sldId="259"/>
            <ac:spMk id="4" creationId="{00000000-0000-0000-0000-000000000000}"/>
          </ac:spMkLst>
        </pc:spChg>
        <pc:spChg chg="mod">
          <ac:chgData name="Author 1" userId="" providerId="ADAL" clId="{5931C679-6ED4-4925-BB1B-BD8DB4A240FF}" dt="2026-07-16T14:33:41.550" v="3993" actId="20577"/>
          <ac:spMkLst>
            <pc:docMk/>
            <pc:sldMk cId="0" sldId="259"/>
            <ac:spMk id="5" creationId="{00000000-0000-0000-0000-000000000000}"/>
          </ac:spMkLst>
        </pc:spChg>
        <pc:graphicFrameChg chg="mod modGraphic">
          <ac:chgData name="Author 1" userId="" providerId="ADAL" clId="{5931C679-6ED4-4925-BB1B-BD8DB4A240FF}" dt="2026-07-16T14:20:49.419" v="3772" actId="14734"/>
          <ac:graphicFrameMkLst>
            <pc:docMk/>
            <pc:sldMk cId="0" sldId="259"/>
            <ac:graphicFrameMk id="3" creationId="{00000000-0000-0000-0000-000000000000}"/>
          </ac:graphicFrameMkLst>
        </pc:graphicFrameChg>
      </pc:sldChg>
      <pc:sldChg chg="modSp del">
        <pc:chgData name="Author 1" userId="" providerId="ADAL" clId="{5931C679-6ED4-4925-BB1B-BD8DB4A240FF}" dt="2026-07-16T14:33:47.108" v="3994" actId="47"/>
        <pc:sldMkLst>
          <pc:docMk/>
          <pc:sldMk cId="0" sldId="260"/>
        </pc:sldMkLst>
        <pc:graphicFrameChg chg="mod">
          <ac:chgData name="Author 1" userId="" providerId="ADAL" clId="{5931C679-6ED4-4925-BB1B-BD8DB4A240FF}" dt="2026-07-16T13:47:18.170" v="1956" actId="21"/>
          <ac:graphicFrameMkLst>
            <pc:docMk/>
            <pc:sldMk cId="0" sldId="260"/>
            <ac:graphicFrameMk id="3"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16FC42-FC39-476F-A62C-EBF7055DEDB1}" type="datetimeFigureOut">
              <a:rPr lang="en-US" smtClean="0"/>
              <a:t>7/16/2026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C323CF-67B7-4AE5-8B37-DD3D8EDE3549}" type="slidenum">
              <a:rPr lang="en-US" smtClean="0"/>
              <a:t>‹#›</a:t>
            </a:fld>
            <a:endParaRPr lang="en-US"/>
          </a:p>
        </p:txBody>
      </p:sp>
    </p:spTree>
    <p:extLst>
      <p:ext uri="{BB962C8B-B14F-4D97-AF65-F5344CB8AC3E}">
        <p14:creationId xmlns:p14="http://schemas.microsoft.com/office/powerpoint/2010/main" val="3851859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BC323CF-67B7-4AE5-8B37-DD3D8EDE3549}" type="slidenum">
              <a:rPr lang="en-US" smtClean="0"/>
              <a:t>2</a:t>
            </a:fld>
            <a:endParaRPr lang="en-US"/>
          </a:p>
        </p:txBody>
      </p:sp>
    </p:spTree>
    <p:extLst>
      <p:ext uri="{BB962C8B-B14F-4D97-AF65-F5344CB8AC3E}">
        <p14:creationId xmlns:p14="http://schemas.microsoft.com/office/powerpoint/2010/main" val="4273387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5097" y="18288"/>
            <a:ext cx="9425465" cy="707886"/>
          </a:xfrm>
          <a:prstGeom prst="rect">
            <a:avLst/>
          </a:prstGeom>
          <a:noFill/>
        </p:spPr>
        <p:txBody>
          <a:bodyPr wrap="none">
            <a:spAutoFit/>
          </a:bodyPr>
          <a:lstStyle/>
          <a:p>
            <a:pPr>
              <a:defRPr sz="4000" b="1">
                <a:solidFill>
                  <a:srgbClr val="FFFFFF"/>
                </a:solidFill>
                <a:latin typeface="Calibri"/>
              </a:defRPr>
            </a:pPr>
            <a:r>
              <a:t>SA Readout Summary</a:t>
            </a:r>
            <a:r>
              <a:rPr lang="en-US"/>
              <a:t> – Project 3 (PM Impl)</a:t>
            </a:r>
            <a:endParaRPr/>
          </a:p>
        </p:txBody>
      </p:sp>
      <p:graphicFrame>
        <p:nvGraphicFramePr>
          <p:cNvPr id="3" name="Table 2"/>
          <p:cNvGraphicFramePr>
            <a:graphicFrameLocks noGrp="1"/>
          </p:cNvGraphicFramePr>
          <p:nvPr/>
        </p:nvGraphicFramePr>
        <p:xfrm>
          <a:off x="10711281" y="18288"/>
          <a:ext cx="5449824" cy="73152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530352">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530352">
                  <a:extLst>
                    <a:ext uri="{9D8B030D-6E8A-4147-A177-3AD203B41FA5}">
                      <a16:colId xmlns:a16="http://schemas.microsoft.com/office/drawing/2014/main" val="20003"/>
                    </a:ext>
                  </a:extLst>
                </a:gridCol>
              </a:tblGrid>
              <a:tr h="365760">
                <a:tc>
                  <a:txBody>
                    <a:bodyPr/>
                    <a:lstStyle/>
                    <a:p>
                      <a:pPr algn="ctr"/>
                      <a:r>
                        <a:rPr sz="1600" b="1">
                          <a:solidFill>
                            <a:srgbClr val="FFFFFF"/>
                          </a:solidFill>
                          <a:latin typeface="Calibri"/>
                        </a:rPr>
                        <a:t>Solution Complexity</a:t>
                      </a:r>
                    </a:p>
                  </a:txBody>
                  <a:tcPr>
                    <a:solidFill>
                      <a:srgbClr val="000000"/>
                    </a:solidFill>
                  </a:tcPr>
                </a:tc>
                <a:tc>
                  <a:txBody>
                    <a:bodyPr/>
                    <a:lstStyle/>
                    <a:p>
                      <a:pPr algn="ctr"/>
                      <a:endParaRPr/>
                    </a:p>
                  </a:txBody>
                  <a:tcPr>
                    <a:solidFill>
                      <a:srgbClr val="000000"/>
                    </a:solidFill>
                  </a:tcPr>
                </a:tc>
                <a:tc>
                  <a:txBody>
                    <a:bodyPr/>
                    <a:lstStyle/>
                    <a:p>
                      <a:pPr algn="ctr"/>
                      <a:r>
                        <a:rPr sz="1600" b="1">
                          <a:solidFill>
                            <a:srgbClr val="FFFFFF"/>
                          </a:solidFill>
                          <a:latin typeface="Calibri"/>
                        </a:rPr>
                        <a:t>Other Offerings</a:t>
                      </a:r>
                    </a:p>
                  </a:txBody>
                  <a:tcPr>
                    <a:solidFill>
                      <a:srgbClr val="000000"/>
                    </a:solidFill>
                  </a:tcPr>
                </a:tc>
                <a:tc>
                  <a:txBody>
                    <a:bodyPr/>
                    <a:lstStyle/>
                    <a:p>
                      <a:pPr algn="ctr"/>
                      <a:endParaRPr/>
                    </a:p>
                  </a:txBody>
                  <a:tcPr>
                    <a:solidFill>
                      <a:srgbClr val="000000"/>
                    </a:solidFill>
                  </a:tcPr>
                </a:tc>
                <a:extLst>
                  <a:ext uri="{0D108BD9-81ED-4DB2-BD59-A6C34878D82A}">
                    <a16:rowId xmlns:a16="http://schemas.microsoft.com/office/drawing/2014/main" val="10000"/>
                  </a:ext>
                </a:extLst>
              </a:tr>
              <a:tr h="365760">
                <a:tc>
                  <a:txBody>
                    <a:bodyPr/>
                    <a:lstStyle/>
                    <a:p>
                      <a:pPr algn="ctr"/>
                      <a:r>
                        <a:rPr sz="1600" b="1">
                          <a:solidFill>
                            <a:srgbClr val="FFFFFF"/>
                          </a:solidFill>
                          <a:latin typeface="Calibri"/>
                        </a:rPr>
                        <a:t>Deployment Timeline</a:t>
                      </a:r>
                    </a:p>
                  </a:txBody>
                  <a:tcPr>
                    <a:solidFill>
                      <a:srgbClr val="000000"/>
                    </a:solidFill>
                  </a:tcPr>
                </a:tc>
                <a:tc>
                  <a:txBody>
                    <a:bodyPr/>
                    <a:lstStyle/>
                    <a:p>
                      <a:pPr algn="ctr"/>
                      <a:endParaRPr/>
                    </a:p>
                  </a:txBody>
                  <a:tcPr>
                    <a:solidFill>
                      <a:srgbClr val="000000"/>
                    </a:solidFill>
                  </a:tcPr>
                </a:tc>
                <a:tc>
                  <a:txBody>
                    <a:bodyPr/>
                    <a:lstStyle/>
                    <a:p>
                      <a:pPr algn="ctr"/>
                      <a:r>
                        <a:rPr sz="1600" b="1">
                          <a:solidFill>
                            <a:srgbClr val="FFFFFF"/>
                          </a:solidFill>
                          <a:latin typeface="Calibri"/>
                        </a:rPr>
                        <a:t>Staffing &amp; Resource</a:t>
                      </a:r>
                    </a:p>
                  </a:txBody>
                  <a:tcPr>
                    <a:solidFill>
                      <a:srgbClr val="000000"/>
                    </a:solidFill>
                  </a:tcPr>
                </a:tc>
                <a:tc>
                  <a:txBody>
                    <a:bodyPr/>
                    <a:lstStyle/>
                    <a:p>
                      <a:pPr algn="ctr"/>
                      <a:endParaRPr/>
                    </a:p>
                  </a:txBody>
                  <a:tcPr>
                    <a:solidFill>
                      <a:srgbClr val="000000"/>
                    </a:solidFill>
                  </a:tcPr>
                </a:tc>
                <a:extLst>
                  <a:ext uri="{0D108BD9-81ED-4DB2-BD59-A6C34878D82A}">
                    <a16:rowId xmlns:a16="http://schemas.microsoft.com/office/drawing/2014/main" val="10001"/>
                  </a:ext>
                </a:extLst>
              </a:tr>
            </a:tbl>
          </a:graphicData>
        </a:graphic>
      </p:graphicFrame>
      <p:sp>
        <p:nvSpPr>
          <p:cNvPr id="5" name="Oval 4"/>
          <p:cNvSpPr/>
          <p:nvPr/>
        </p:nvSpPr>
        <p:spPr>
          <a:xfrm>
            <a:off x="13061289" y="429768"/>
            <a:ext cx="219456" cy="219456"/>
          </a:xfrm>
          <a:prstGeom prst="ellipse">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5786201" y="64008"/>
            <a:ext cx="219456" cy="219456"/>
          </a:xfrm>
          <a:prstGeom prst="ellipse">
            <a:avLst/>
          </a:prstGeom>
          <a:solidFill>
            <a:srgbClr val="92D050"/>
          </a:solidFill>
          <a:ln>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5786201" y="429768"/>
            <a:ext cx="219456" cy="219456"/>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extLst>
              <p:ext uri="{D42A27DB-BD31-4B8C-83A1-F6EECF244321}">
                <p14:modId xmlns:p14="http://schemas.microsoft.com/office/powerpoint/2010/main" val="3206974204"/>
              </p:ext>
            </p:extLst>
          </p:nvPr>
        </p:nvGraphicFramePr>
        <p:xfrm>
          <a:off x="95097" y="822960"/>
          <a:ext cx="16066008" cy="3270985"/>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530352">
                  <a:extLst>
                    <a:ext uri="{9D8B030D-6E8A-4147-A177-3AD203B41FA5}">
                      <a16:colId xmlns:a16="http://schemas.microsoft.com/office/drawing/2014/main" val="20001"/>
                    </a:ext>
                  </a:extLst>
                </a:gridCol>
                <a:gridCol w="13341096">
                  <a:extLst>
                    <a:ext uri="{9D8B030D-6E8A-4147-A177-3AD203B41FA5}">
                      <a16:colId xmlns:a16="http://schemas.microsoft.com/office/drawing/2014/main" val="20002"/>
                    </a:ext>
                  </a:extLst>
                </a:gridCol>
              </a:tblGrid>
              <a:tr h="365760">
                <a:tc gridSpan="3">
                  <a:txBody>
                    <a:bodyPr/>
                    <a:lstStyle/>
                    <a:p>
                      <a:pPr algn="ctr"/>
                      <a:r>
                        <a:rPr sz="1600">
                          <a:solidFill>
                            <a:srgbClr val="FFFFFF"/>
                          </a:solidFill>
                          <a:latin typeface="Calibri"/>
                        </a:rPr>
                        <a:t>Solution Complexity</a:t>
                      </a:r>
                    </a:p>
                  </a:txBody>
                  <a:tcPr>
                    <a:solidFill>
                      <a:srgbClr val="0077BE"/>
                    </a:solidFill>
                  </a:tcPr>
                </a:tc>
                <a:tc hMerge="1">
                  <a:txBody>
                    <a:bodyPr/>
                    <a:lstStyle/>
                    <a:p>
                      <a:pPr algn="ctr"/>
                      <a:endParaRPr/>
                    </a:p>
                  </a:txBody>
                  <a:tcPr>
                    <a:solidFill>
                      <a:srgbClr val="000000"/>
                    </a:solidFill>
                  </a:tcPr>
                </a:tc>
                <a:tc hMerge="1">
                  <a:txBody>
                    <a:bodyPr/>
                    <a:lstStyle/>
                    <a:p>
                      <a:pPr algn="ctr"/>
                      <a:endParaRPr/>
                    </a:p>
                  </a:txBody>
                  <a:tcPr>
                    <a:solidFill>
                      <a:srgbClr val="000000"/>
                    </a:solidFill>
                  </a:tcPr>
                </a:tc>
                <a:extLst>
                  <a:ext uri="{0D108BD9-81ED-4DB2-BD59-A6C34878D82A}">
                    <a16:rowId xmlns:a16="http://schemas.microsoft.com/office/drawing/2014/main" val="10000"/>
                  </a:ext>
                </a:extLst>
              </a:tr>
              <a:tr h="1307592">
                <a:tc>
                  <a:txBody>
                    <a:bodyPr/>
                    <a:lstStyle/>
                    <a:p>
                      <a:r>
                        <a:rPr sz="1600">
                          <a:solidFill>
                            <a:srgbClr val="FFFFFF"/>
                          </a:solidFill>
                          <a:latin typeface="Calibri"/>
                        </a:rPr>
                        <a:t>Solution Scope</a:t>
                      </a:r>
                    </a:p>
                  </a:txBody>
                  <a:tcPr>
                    <a:solidFill>
                      <a:srgbClr val="000000"/>
                    </a:solidFill>
                  </a:tcPr>
                </a:tc>
                <a:tc>
                  <a:txBody>
                    <a:bodyPr/>
                    <a:lstStyle/>
                    <a:p>
                      <a:endParaRPr/>
                    </a:p>
                  </a:txBody>
                  <a:tcPr>
                    <a:solidFill>
                      <a:srgbClr val="000000"/>
                    </a:solidFill>
                  </a:tcPr>
                </a:tc>
                <a:tc>
                  <a:txBody>
                    <a:bodyPr/>
                    <a:lstStyle/>
                    <a:p>
                      <a:pPr marL="285750" indent="-285750">
                        <a:buFont typeface="Arial" panose="020B0604020202020204" pitchFamily="34" charset="0"/>
                        <a:buChar char="•"/>
                      </a:pPr>
                      <a:r>
                        <a:rPr lang="en-US" sz="1600">
                          <a:solidFill>
                            <a:srgbClr val="FFFFFF"/>
                          </a:solidFill>
                          <a:latin typeface="+mn-lt"/>
                        </a:rPr>
                        <a:t>Response document adequately captures scope details for areas of Process, Security, OCM and Testing</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solidFill>
                            <a:srgbClr val="FFFFFF"/>
                          </a:solidFill>
                          <a:latin typeface="+mn-lt"/>
                        </a:rPr>
                        <a:t>GenAI Assets are part of the response and adequately documented</a:t>
                      </a:r>
                      <a:endParaRPr lang="en-US" sz="1600">
                        <a:solidFill>
                          <a:srgbClr val="FFFFFF"/>
                        </a:solidFill>
                        <a:latin typeface="Calibri"/>
                      </a:endParaRPr>
                    </a:p>
                    <a:p>
                      <a:pPr marL="285750" indent="-285750">
                        <a:spcBef>
                          <a:spcPts val="0"/>
                        </a:spcBef>
                        <a:spcAft>
                          <a:spcPts val="0"/>
                        </a:spcAft>
                        <a:buFont typeface="Arial" panose="020B0604020202020204" pitchFamily="34" charset="0"/>
                        <a:buChar char="•"/>
                      </a:pPr>
                      <a:r>
                        <a:rPr lang="en-US" sz="1600">
                          <a:solidFill>
                            <a:srgbClr val="FFFFFF"/>
                          </a:solidFill>
                          <a:latin typeface="Calibri"/>
                        </a:rPr>
                        <a:t>Need to adequately further capture scope for areas of Analytics and Development – in terms of number and complexity of RICEFWs as part of the response document</a:t>
                      </a:r>
                    </a:p>
                    <a:p>
                      <a:pPr marL="285750" indent="-285750">
                        <a:spcBef>
                          <a:spcPts val="0"/>
                        </a:spcBef>
                        <a:spcAft>
                          <a:spcPts val="0"/>
                        </a:spcAft>
                        <a:buFont typeface="Arial" panose="020B0604020202020204" pitchFamily="34" charset="0"/>
                        <a:buChar char="•"/>
                      </a:pPr>
                      <a:r>
                        <a:rPr lang="en-US" sz="1600">
                          <a:solidFill>
                            <a:srgbClr val="FFFFFF"/>
                          </a:solidFill>
                          <a:latin typeface="Calibri"/>
                        </a:rPr>
                        <a:t>The response document lacks clarity regarding the delineation of responsibilities between Deloitte and the client, need to add the same</a:t>
                      </a:r>
                    </a:p>
                    <a:p>
                      <a:pPr marL="285750" indent="-285750">
                        <a:spcBef>
                          <a:spcPts val="0"/>
                        </a:spcBef>
                        <a:spcAft>
                          <a:spcPts val="0"/>
                        </a:spcAft>
                        <a:buFont typeface="Arial" panose="020B0604020202020204" pitchFamily="34" charset="0"/>
                        <a:buChar char="•"/>
                      </a:pPr>
                      <a:r>
                        <a:rPr lang="en-US" sz="1600">
                          <a:solidFill>
                            <a:srgbClr val="FFFFFF"/>
                          </a:solidFill>
                          <a:latin typeface="Calibri"/>
                        </a:rPr>
                        <a:t>Scope assumptions are missing or need to be updated for areas of – Basis being out of scope and Additional functional stream support for EAM enablement (FIN/MM etc.)</a:t>
                      </a:r>
                    </a:p>
                  </a:txBody>
                  <a:tcPr>
                    <a:solidFill>
                      <a:srgbClr val="000000"/>
                    </a:solidFill>
                  </a:tcPr>
                </a:tc>
                <a:extLst>
                  <a:ext uri="{0D108BD9-81ED-4DB2-BD59-A6C34878D82A}">
                    <a16:rowId xmlns:a16="http://schemas.microsoft.com/office/drawing/2014/main" val="10001"/>
                  </a:ext>
                </a:extLst>
              </a:tr>
              <a:tr h="547036">
                <a:tc>
                  <a:txBody>
                    <a:bodyPr/>
                    <a:lstStyle/>
                    <a:p>
                      <a:r>
                        <a:rPr sz="1600">
                          <a:solidFill>
                            <a:srgbClr val="FFFFFF"/>
                          </a:solidFill>
                          <a:latin typeface="Calibri"/>
                        </a:rPr>
                        <a:t>Integration Scope</a:t>
                      </a:r>
                    </a:p>
                  </a:txBody>
                  <a:tcPr>
                    <a:solidFill>
                      <a:srgbClr val="000000"/>
                    </a:solidFill>
                  </a:tcPr>
                </a:tc>
                <a:tc>
                  <a:txBody>
                    <a:bodyPr/>
                    <a:lstStyle/>
                    <a:p>
                      <a:endParaRPr/>
                    </a:p>
                  </a:txBody>
                  <a:tcPr>
                    <a:solidFill>
                      <a:srgbClr val="000000"/>
                    </a:solidFill>
                  </a:tcPr>
                </a:tc>
                <a:tc>
                  <a:txBody>
                    <a:bodyPr/>
                    <a:lstStyle/>
                    <a:p>
                      <a:pPr marL="285750" indent="-285750">
                        <a:buFont typeface="Arial" panose="020B0604020202020204" pitchFamily="34" charset="0"/>
                        <a:buChar char="•"/>
                      </a:pPr>
                      <a:r>
                        <a:rPr lang="en-US" sz="1600">
                          <a:solidFill>
                            <a:srgbClr val="FFFFFF"/>
                          </a:solidFill>
                          <a:latin typeface="+mn-lt"/>
                        </a:rPr>
                        <a:t>Tech Integration scope is adequately captured in response document</a:t>
                      </a:r>
                    </a:p>
                  </a:txBody>
                  <a:tcPr>
                    <a:solidFill>
                      <a:srgbClr val="000000"/>
                    </a:solidFill>
                  </a:tcPr>
                </a:tc>
                <a:extLst>
                  <a:ext uri="{0D108BD9-81ED-4DB2-BD59-A6C34878D82A}">
                    <a16:rowId xmlns:a16="http://schemas.microsoft.com/office/drawing/2014/main" val="10002"/>
                  </a:ext>
                </a:extLst>
              </a:tr>
              <a:tr h="559869">
                <a:tc>
                  <a:txBody>
                    <a:bodyPr/>
                    <a:lstStyle/>
                    <a:p>
                      <a:r>
                        <a:rPr sz="1600">
                          <a:solidFill>
                            <a:srgbClr val="FFFFFF"/>
                          </a:solidFill>
                          <a:latin typeface="Calibri"/>
                        </a:rPr>
                        <a:t>Geographic Scope</a:t>
                      </a:r>
                    </a:p>
                  </a:txBody>
                  <a:tcPr>
                    <a:solidFill>
                      <a:srgbClr val="000000"/>
                    </a:solidFill>
                  </a:tcPr>
                </a:tc>
                <a:tc>
                  <a:txBody>
                    <a:bodyPr/>
                    <a:lstStyle/>
                    <a:p>
                      <a:endParaRPr/>
                    </a:p>
                  </a:txBody>
                  <a:tcPr>
                    <a:solidFill>
                      <a:srgbClr val="000000"/>
                    </a:solidFill>
                  </a:tcPr>
                </a:tc>
                <a:tc>
                  <a:txBody>
                    <a:bodyPr/>
                    <a:lstStyle/>
                    <a:p>
                      <a:pPr marL="285750" lvl="0" indent="-285750">
                        <a:buFont typeface="Arial" panose="020B0604020202020204" pitchFamily="34" charset="0"/>
                        <a:buChar char="•"/>
                      </a:pPr>
                      <a:r>
                        <a:rPr lang="en-US" sz="1600">
                          <a:solidFill>
                            <a:srgbClr val="FFFFFF"/>
                          </a:solidFill>
                          <a:latin typeface="+mn-lt"/>
                        </a:rPr>
                        <a:t>Geographic scope includes Project 3 Indiana, Project 3 Ohio and Project 3 Lighting and is called out in the response</a:t>
                      </a:r>
                      <a:endParaRPr lang="en-US" sz="1600"/>
                    </a:p>
                  </a:txBody>
                  <a:tcPr>
                    <a:solidFill>
                      <a:srgbClr val="000000"/>
                    </a:solidFill>
                  </a:tcPr>
                </a:tc>
                <a:extLst>
                  <a:ext uri="{0D108BD9-81ED-4DB2-BD59-A6C34878D82A}">
                    <a16:rowId xmlns:a16="http://schemas.microsoft.com/office/drawing/2014/main" val="10003"/>
                  </a:ext>
                </a:extLst>
              </a:tr>
            </a:tbl>
          </a:graphicData>
        </a:graphic>
      </p:graphicFrame>
      <p:sp>
        <p:nvSpPr>
          <p:cNvPr id="9" name="Oval 8"/>
          <p:cNvSpPr/>
          <p:nvPr/>
        </p:nvSpPr>
        <p:spPr>
          <a:xfrm>
            <a:off x="2408529" y="1730250"/>
            <a:ext cx="292608" cy="292608"/>
          </a:xfrm>
          <a:prstGeom prst="ellipse">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Table 11"/>
          <p:cNvGraphicFramePr>
            <a:graphicFrameLocks noGrp="1"/>
          </p:cNvGraphicFramePr>
          <p:nvPr>
            <p:extLst>
              <p:ext uri="{D42A27DB-BD31-4B8C-83A1-F6EECF244321}">
                <p14:modId xmlns:p14="http://schemas.microsoft.com/office/powerpoint/2010/main" val="2623151583"/>
              </p:ext>
            </p:extLst>
          </p:nvPr>
        </p:nvGraphicFramePr>
        <p:xfrm>
          <a:off x="96761" y="4363961"/>
          <a:ext cx="16066008" cy="4508923"/>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530352">
                  <a:extLst>
                    <a:ext uri="{9D8B030D-6E8A-4147-A177-3AD203B41FA5}">
                      <a16:colId xmlns:a16="http://schemas.microsoft.com/office/drawing/2014/main" val="20001"/>
                    </a:ext>
                  </a:extLst>
                </a:gridCol>
                <a:gridCol w="13341096">
                  <a:extLst>
                    <a:ext uri="{9D8B030D-6E8A-4147-A177-3AD203B41FA5}">
                      <a16:colId xmlns:a16="http://schemas.microsoft.com/office/drawing/2014/main" val="20002"/>
                    </a:ext>
                  </a:extLst>
                </a:gridCol>
              </a:tblGrid>
              <a:tr h="417093">
                <a:tc gridSpan="3">
                  <a:txBody>
                    <a:bodyPr/>
                    <a:lstStyle/>
                    <a:p>
                      <a:pPr marL="0" indent="0" algn="ctr">
                        <a:buFont typeface="Arial" panose="020B0604020202020204" pitchFamily="34" charset="0"/>
                        <a:buNone/>
                      </a:pPr>
                      <a:r>
                        <a:rPr sz="1600">
                          <a:solidFill>
                            <a:srgbClr val="FFFFFF"/>
                          </a:solidFill>
                          <a:latin typeface="Calibri"/>
                        </a:rPr>
                        <a:t>Staffing &amp; Resource Mix</a:t>
                      </a:r>
                    </a:p>
                  </a:txBody>
                  <a:tcPr>
                    <a:solidFill>
                      <a:srgbClr val="0077BE"/>
                    </a:solidFill>
                  </a:tcPr>
                </a:tc>
                <a:tc hMerge="1">
                  <a:txBody>
                    <a:bodyPr/>
                    <a:lstStyle/>
                    <a:p>
                      <a:pPr algn="ctr"/>
                      <a:endParaRPr/>
                    </a:p>
                  </a:txBody>
                  <a:tcPr>
                    <a:solidFill>
                      <a:srgbClr val="000000"/>
                    </a:solidFill>
                  </a:tcPr>
                </a:tc>
                <a:tc hMerge="1">
                  <a:txBody>
                    <a:bodyPr/>
                    <a:lstStyle/>
                    <a:p>
                      <a:pPr algn="ctr"/>
                      <a:endParaRPr/>
                    </a:p>
                  </a:txBody>
                  <a:tcPr>
                    <a:solidFill>
                      <a:srgbClr val="000000"/>
                    </a:solidFill>
                  </a:tcPr>
                </a:tc>
                <a:extLst>
                  <a:ext uri="{0D108BD9-81ED-4DB2-BD59-A6C34878D82A}">
                    <a16:rowId xmlns:a16="http://schemas.microsoft.com/office/drawing/2014/main" val="10000"/>
                  </a:ext>
                </a:extLst>
              </a:tr>
              <a:tr h="1403178">
                <a:tc>
                  <a:txBody>
                    <a:bodyPr/>
                    <a:lstStyle/>
                    <a:p>
                      <a:r>
                        <a:rPr sz="1600">
                          <a:solidFill>
                            <a:srgbClr val="FFFFFF"/>
                          </a:solidFill>
                          <a:latin typeface="Calibri" panose="020F0502020204030204" pitchFamily="34" charset="0"/>
                          <a:ea typeface="Calibri" panose="020F0502020204030204" pitchFamily="34" charset="0"/>
                          <a:cs typeface="Calibri" panose="020F0502020204030204" pitchFamily="34" charset="0"/>
                        </a:rPr>
                        <a:t>Solution Coverage</a:t>
                      </a:r>
                    </a:p>
                  </a:txBody>
                  <a:tcPr>
                    <a:solidFill>
                      <a:srgbClr val="000000"/>
                    </a:solidFill>
                  </a:tcPr>
                </a:tc>
                <a:tc>
                  <a:txBody>
                    <a:bodyPr/>
                    <a:lstStyle/>
                    <a:p>
                      <a:endParaRPr sz="1600">
                        <a:latin typeface="Calibri" panose="020F0502020204030204" pitchFamily="34" charset="0"/>
                        <a:ea typeface="Calibri" panose="020F0502020204030204" pitchFamily="34" charset="0"/>
                        <a:cs typeface="Calibri" panose="020F0502020204030204" pitchFamily="34" charset="0"/>
                      </a:endParaRPr>
                    </a:p>
                  </a:txBody>
                  <a:tcPr>
                    <a:solidFill>
                      <a:srgbClr val="000000"/>
                    </a:solidFill>
                  </a:tcPr>
                </a:tc>
                <a:tc>
                  <a:txBody>
                    <a:bodyPr/>
                    <a:lstStyle/>
                    <a:p>
                      <a:pPr marL="285750" indent="-285750">
                        <a:buFont typeface="Arial" panose="020B0604020202020204" pitchFamily="34" charset="0"/>
                        <a:buChar char="•"/>
                      </a:pPr>
                      <a:r>
                        <a:rPr sz="1600">
                          <a:solidFill>
                            <a:srgbClr val="FFFFFF"/>
                          </a:solidFill>
                          <a:latin typeface="Calibri" panose="020F0502020204030204" pitchFamily="34" charset="0"/>
                          <a:ea typeface="Calibri" panose="020F0502020204030204" pitchFamily="34" charset="0"/>
                          <a:cs typeface="Calibri" panose="020F0502020204030204" pitchFamily="34" charset="0"/>
                        </a:rPr>
                        <a:t>The documentation doesn't provide clarity on the scope of reporting, analytics, UI5, and Fiori. It doesn't outline</a:t>
                      </a:r>
                      <a:r>
                        <a:rPr lang="en-US" sz="1600">
                          <a:solidFill>
                            <a:srgbClr val="FFFFFF"/>
                          </a:solidFill>
                          <a:latin typeface="Calibri" panose="020F0502020204030204" pitchFamily="34" charset="0"/>
                          <a:ea typeface="Calibri" panose="020F0502020204030204" pitchFamily="34" charset="0"/>
                          <a:cs typeface="Calibri" panose="020F0502020204030204" pitchFamily="34" charset="0"/>
                        </a:rPr>
                        <a:t> key solutions/deliverables considered in scope for these areas of work. Need to update response document accordingly</a:t>
                      </a:r>
                      <a:endParaRPr sz="1600">
                        <a:solidFill>
                          <a:srgbClr val="FFFFFF"/>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sz="1600">
                          <a:solidFill>
                            <a:srgbClr val="FFFFFF"/>
                          </a:solidFill>
                          <a:latin typeface="Calibri" panose="020F0502020204030204" pitchFamily="34" charset="0"/>
                          <a:ea typeface="Calibri" panose="020F0502020204030204" pitchFamily="34" charset="0"/>
                          <a:cs typeface="Calibri" panose="020F0502020204030204" pitchFamily="34" charset="0"/>
                        </a:rPr>
                        <a:t>Historical data reporting needs are not clear</a:t>
                      </a:r>
                      <a:r>
                        <a:rPr lang="en-US" sz="1600">
                          <a:solidFill>
                            <a:srgbClr val="FFFFFF"/>
                          </a:solidFill>
                          <a:latin typeface="Calibri" panose="020F0502020204030204" pitchFamily="34" charset="0"/>
                          <a:ea typeface="Calibri" panose="020F0502020204030204" pitchFamily="34" charset="0"/>
                          <a:cs typeface="Calibri" panose="020F0502020204030204" pitchFamily="34" charset="0"/>
                        </a:rPr>
                        <a:t>, need to include details if in scope or not with supporting assumptions</a:t>
                      </a:r>
                      <a:endParaRPr sz="1600">
                        <a:solidFill>
                          <a:srgbClr val="FFFFFF"/>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sz="1600">
                          <a:solidFill>
                            <a:srgbClr val="FFFFFF"/>
                          </a:solidFill>
                          <a:latin typeface="Calibri" panose="020F0502020204030204" pitchFamily="34" charset="0"/>
                          <a:ea typeface="Calibri" panose="020F0502020204030204" pitchFamily="34" charset="0"/>
                          <a:cs typeface="Calibri" panose="020F0502020204030204" pitchFamily="34" charset="0"/>
                        </a:rPr>
                        <a:t>Real time reporting needs are not explicitly mentioned</a:t>
                      </a:r>
                      <a:r>
                        <a:rPr lang="en-US" sz="1600">
                          <a:solidFill>
                            <a:srgbClr val="FFFFFF"/>
                          </a:solidFill>
                          <a:latin typeface="Calibri" panose="020F0502020204030204" pitchFamily="34" charset="0"/>
                          <a:ea typeface="Calibri" panose="020F0502020204030204" pitchFamily="34" charset="0"/>
                          <a:cs typeface="Calibri" panose="020F0502020204030204" pitchFamily="34" charset="0"/>
                        </a:rPr>
                        <a:t>, need to call out if in scope</a:t>
                      </a:r>
                      <a:endParaRPr sz="1600">
                        <a:solidFill>
                          <a:srgbClr val="FFFFFF"/>
                        </a:solidFill>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sz="1600">
                          <a:solidFill>
                            <a:srgbClr val="FFFFFF"/>
                          </a:solidFill>
                          <a:latin typeface="Calibri" panose="020F0502020204030204" pitchFamily="34" charset="0"/>
                          <a:ea typeface="Calibri" panose="020F0502020204030204" pitchFamily="34" charset="0"/>
                          <a:cs typeface="Calibri" panose="020F0502020204030204" pitchFamily="34" charset="0"/>
                        </a:rPr>
                        <a:t>Batch scheduling requirements are not clearly called out</a:t>
                      </a:r>
                      <a:r>
                        <a:rPr lang="en-US" sz="1600">
                          <a:solidFill>
                            <a:srgbClr val="FFFFFF"/>
                          </a:solidFill>
                          <a:latin typeface="Calibri" panose="020F0502020204030204" pitchFamily="34" charset="0"/>
                          <a:ea typeface="Calibri" panose="020F0502020204030204" pitchFamily="34" charset="0"/>
                          <a:cs typeface="Calibri" panose="020F0502020204030204" pitchFamily="34" charset="0"/>
                        </a:rPr>
                        <a:t>, if any applicable for PM process scope area</a:t>
                      </a:r>
                      <a:endParaRPr sz="1600">
                        <a:solidFill>
                          <a:srgbClr val="FFFFFF"/>
                        </a:solidFill>
                        <a:latin typeface="Calibri" panose="020F0502020204030204" pitchFamily="34" charset="0"/>
                        <a:ea typeface="Calibri" panose="020F0502020204030204" pitchFamily="34" charset="0"/>
                        <a:cs typeface="Calibri" panose="020F0502020204030204" pitchFamily="34" charset="0"/>
                      </a:endParaRPr>
                    </a:p>
                  </a:txBody>
                  <a:tcPr>
                    <a:solidFill>
                      <a:srgbClr val="000000"/>
                    </a:solidFill>
                  </a:tcPr>
                </a:tc>
                <a:extLst>
                  <a:ext uri="{0D108BD9-81ED-4DB2-BD59-A6C34878D82A}">
                    <a16:rowId xmlns:a16="http://schemas.microsoft.com/office/drawing/2014/main" val="10001"/>
                  </a:ext>
                </a:extLst>
              </a:tr>
              <a:tr h="980168">
                <a:tc>
                  <a:txBody>
                    <a:bodyPr/>
                    <a:lstStyle/>
                    <a:p>
                      <a:r>
                        <a:rPr sz="1600">
                          <a:solidFill>
                            <a:srgbClr val="FFFFFF"/>
                          </a:solidFill>
                          <a:latin typeface="Calibri" panose="020F0502020204030204" pitchFamily="34" charset="0"/>
                          <a:ea typeface="Calibri" panose="020F0502020204030204" pitchFamily="34" charset="0"/>
                          <a:cs typeface="Calibri" panose="020F0502020204030204" pitchFamily="34" charset="0"/>
                        </a:rPr>
                        <a:t>Resource Mix/Coverage</a:t>
                      </a:r>
                    </a:p>
                  </a:txBody>
                  <a:tcPr>
                    <a:solidFill>
                      <a:srgbClr val="000000"/>
                    </a:solidFill>
                  </a:tcPr>
                </a:tc>
                <a:tc>
                  <a:txBody>
                    <a:bodyPr/>
                    <a:lstStyle/>
                    <a:p>
                      <a:endParaRPr sz="1600">
                        <a:latin typeface="Calibri" panose="020F0502020204030204" pitchFamily="34" charset="0"/>
                        <a:ea typeface="Calibri" panose="020F0502020204030204" pitchFamily="34" charset="0"/>
                        <a:cs typeface="Calibri" panose="020F0502020204030204" pitchFamily="34" charset="0"/>
                      </a:endParaRPr>
                    </a:p>
                  </a:txBody>
                  <a:tcPr>
                    <a:solidFill>
                      <a:srgbClr val="000000"/>
                    </a:solidFill>
                  </a:tcPr>
                </a:tc>
                <a:tc>
                  <a:txBody>
                    <a:bodyPr/>
                    <a:lstStyle/>
                    <a:p>
                      <a:pPr marL="285750" lvl="0" indent="-285750">
                        <a:buFont typeface="Arial" panose="020B0604020202020204" pitchFamily="34" charset="0"/>
                        <a:buChar char="•"/>
                      </a:pPr>
                      <a:r>
                        <a:rPr lang="en-US" sz="1600">
                          <a:solidFill>
                            <a:srgbClr val="FFFFFF"/>
                          </a:solidFill>
                          <a:latin typeface="Calibri" panose="020F0502020204030204" pitchFamily="34" charset="0"/>
                          <a:ea typeface="Calibri" panose="020F0502020204030204" pitchFamily="34" charset="0"/>
                          <a:cs typeface="Calibri" panose="020F0502020204030204" pitchFamily="34" charset="0"/>
                        </a:rPr>
                        <a:t>Onsite – Offshore (Including ARDC) mix at 21.2% : 78.8%, is fine</a:t>
                      </a:r>
                    </a:p>
                    <a:p>
                      <a:pPr marL="285750" lvl="0" indent="-285750">
                        <a:buFont typeface="Arial" panose="020B0604020202020204" pitchFamily="34" charset="0"/>
                        <a:buChar char="•"/>
                      </a:pPr>
                      <a:r>
                        <a:rPr lang="en-US" sz="1600">
                          <a:solidFill>
                            <a:srgbClr val="FFFFFF"/>
                          </a:solidFill>
                          <a:latin typeface="Calibri" panose="020F0502020204030204" pitchFamily="34" charset="0"/>
                          <a:ea typeface="Calibri" panose="020F0502020204030204" pitchFamily="34" charset="0"/>
                          <a:cs typeface="Calibri" panose="020F0502020204030204" pitchFamily="34" charset="0"/>
                        </a:rPr>
                        <a:t>USI Bulge at 0.88 is much lesser than the benchmark of 1.9. Need to fix the same</a:t>
                      </a:r>
                      <a:endParaRPr lang="en-US" sz="1600">
                        <a:latin typeface="Calibri" panose="020F0502020204030204" pitchFamily="34" charset="0"/>
                        <a:ea typeface="Calibri" panose="020F0502020204030204" pitchFamily="34" charset="0"/>
                        <a:cs typeface="Calibri" panose="020F0502020204030204" pitchFamily="34" charset="0"/>
                      </a:endParaRPr>
                    </a:p>
                  </a:txBody>
                  <a:tcPr>
                    <a:solidFill>
                      <a:srgbClr val="000000"/>
                    </a:solidFill>
                  </a:tcPr>
                </a:tc>
                <a:extLst>
                  <a:ext uri="{0D108BD9-81ED-4DB2-BD59-A6C34878D82A}">
                    <a16:rowId xmlns:a16="http://schemas.microsoft.com/office/drawing/2014/main" val="10002"/>
                  </a:ext>
                </a:extLst>
              </a:tr>
              <a:tr h="641684">
                <a:tc>
                  <a:txBody>
                    <a:bodyPr/>
                    <a:lstStyle/>
                    <a:p>
                      <a:r>
                        <a:rPr sz="1600">
                          <a:solidFill>
                            <a:srgbClr val="FFFFFF"/>
                          </a:solidFill>
                          <a:latin typeface="Calibri" panose="020F0502020204030204" pitchFamily="34" charset="0"/>
                          <a:ea typeface="Calibri" panose="020F0502020204030204" pitchFamily="34" charset="0"/>
                          <a:cs typeface="Calibri" panose="020F0502020204030204" pitchFamily="34" charset="0"/>
                        </a:rPr>
                        <a:t>USI/DC Leverage</a:t>
                      </a:r>
                    </a:p>
                  </a:txBody>
                  <a:tcPr>
                    <a:solidFill>
                      <a:srgbClr val="000000"/>
                    </a:solidFill>
                  </a:tcPr>
                </a:tc>
                <a:tc>
                  <a:txBody>
                    <a:bodyPr/>
                    <a:lstStyle/>
                    <a:p>
                      <a:endParaRPr sz="1600">
                        <a:latin typeface="Calibri" panose="020F0502020204030204" pitchFamily="34" charset="0"/>
                        <a:ea typeface="Calibri" panose="020F0502020204030204" pitchFamily="34" charset="0"/>
                        <a:cs typeface="Calibri" panose="020F0502020204030204" pitchFamily="34" charset="0"/>
                      </a:endParaRPr>
                    </a:p>
                  </a:txBody>
                  <a:tcPr>
                    <a:solidFill>
                      <a:srgbClr val="000000"/>
                    </a:solidFill>
                  </a:tcPr>
                </a:tc>
                <a:tc>
                  <a:txBody>
                    <a:bodyPr/>
                    <a:lstStyle/>
                    <a:p>
                      <a:pPr marL="285750" indent="-285750">
                        <a:buFont typeface="Arial" panose="020B0604020202020204" pitchFamily="34" charset="0"/>
                        <a:buChar char="•"/>
                      </a:pPr>
                      <a:r>
                        <a:rPr lang="en-US" sz="1600">
                          <a:solidFill>
                            <a:schemeClr val="bg1"/>
                          </a:solidFill>
                          <a:latin typeface="Calibri" panose="020F0502020204030204" pitchFamily="34" charset="0"/>
                          <a:ea typeface="Calibri" panose="020F0502020204030204" pitchFamily="34" charset="0"/>
                          <a:cs typeface="Calibri" panose="020F0502020204030204" pitchFamily="34" charset="0"/>
                        </a:rPr>
                        <a:t>Staffing leverages ARDC/Mexico resources in addition to USI. However, hours per period need to be updated to 180 from 160 currently baked in staffing model</a:t>
                      </a:r>
                      <a:endParaRPr sz="1600">
                        <a:solidFill>
                          <a:schemeClr val="bg1"/>
                        </a:solidFill>
                        <a:latin typeface="Calibri" panose="020F0502020204030204" pitchFamily="34" charset="0"/>
                        <a:ea typeface="Calibri" panose="020F0502020204030204" pitchFamily="34" charset="0"/>
                        <a:cs typeface="Calibri" panose="020F0502020204030204" pitchFamily="34" charset="0"/>
                      </a:endParaRPr>
                    </a:p>
                  </a:txBody>
                  <a:tcPr>
                    <a:solidFill>
                      <a:srgbClr val="000000"/>
                    </a:solidFill>
                  </a:tcPr>
                </a:tc>
                <a:extLst>
                  <a:ext uri="{0D108BD9-81ED-4DB2-BD59-A6C34878D82A}">
                    <a16:rowId xmlns:a16="http://schemas.microsoft.com/office/drawing/2014/main" val="10003"/>
                  </a:ext>
                </a:extLst>
              </a:tr>
              <a:tr h="980168">
                <a:tc>
                  <a:txBody>
                    <a:bodyPr/>
                    <a:lstStyle/>
                    <a:p>
                      <a:r>
                        <a:rPr sz="1600">
                          <a:solidFill>
                            <a:srgbClr val="FFFFFF"/>
                          </a:solidFill>
                          <a:latin typeface="Calibri" panose="020F0502020204030204" pitchFamily="34" charset="0"/>
                          <a:ea typeface="Calibri" panose="020F0502020204030204" pitchFamily="34" charset="0"/>
                          <a:cs typeface="Calibri" panose="020F0502020204030204" pitchFamily="34" charset="0"/>
                        </a:rPr>
                        <a:t>Staffing Estimates vs Actual</a:t>
                      </a:r>
                    </a:p>
                  </a:txBody>
                  <a:tcPr>
                    <a:solidFill>
                      <a:srgbClr val="000000"/>
                    </a:solidFill>
                  </a:tcPr>
                </a:tc>
                <a:tc>
                  <a:txBody>
                    <a:bodyPr/>
                    <a:lstStyle/>
                    <a:p>
                      <a:endParaRPr sz="1600">
                        <a:latin typeface="Calibri" panose="020F0502020204030204" pitchFamily="34" charset="0"/>
                        <a:ea typeface="Calibri" panose="020F0502020204030204" pitchFamily="34" charset="0"/>
                        <a:cs typeface="Calibri" panose="020F0502020204030204" pitchFamily="34" charset="0"/>
                      </a:endParaRPr>
                    </a:p>
                  </a:txBody>
                  <a:tcPr>
                    <a:solidFill>
                      <a:srgbClr val="000000"/>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solidFill>
                            <a:schemeClr val="bg1"/>
                          </a:solidFill>
                          <a:latin typeface="Calibri" panose="020F0502020204030204" pitchFamily="34" charset="0"/>
                          <a:ea typeface="Calibri" panose="020F0502020204030204" pitchFamily="34" charset="0"/>
                          <a:cs typeface="Calibri" panose="020F0502020204030204" pitchFamily="34" charset="0"/>
                        </a:rPr>
                        <a:t>Overall total staffing hours are higher than NextGen estimation hours, please refer to slide # 3 for detailed comparison</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solidFill>
                            <a:schemeClr val="bg1"/>
                          </a:solidFill>
                          <a:latin typeface="Calibri" panose="020F0502020204030204" pitchFamily="34" charset="0"/>
                          <a:ea typeface="Calibri" panose="020F0502020204030204" pitchFamily="34" charset="0"/>
                          <a:cs typeface="Calibri" panose="020F0502020204030204" pitchFamily="34" charset="0"/>
                        </a:rPr>
                        <a:t>USI SM hours at 0.012 % are much lesser to the benchmark of 2% – 2.5%. Need to increase USI SM hours in staffing model as per benchmark</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a:solidFill>
                            <a:srgbClr val="FFFFFF"/>
                          </a:solidFill>
                          <a:latin typeface="Calibri" panose="020F0502020204030204" pitchFamily="34" charset="0"/>
                          <a:ea typeface="Calibri" panose="020F0502020204030204" pitchFamily="34" charset="0"/>
                          <a:cs typeface="Calibri" panose="020F0502020204030204" pitchFamily="34" charset="0"/>
                        </a:rPr>
                        <a:t>Section 9.7 of the client RFP specification calls for staffing a full time Test Manager; however, staffing(pricing model) does not reflect this role, need to add the same</a:t>
                      </a:r>
                    </a:p>
                  </a:txBody>
                  <a:tcPr>
                    <a:solidFill>
                      <a:srgbClr val="000000"/>
                    </a:solidFill>
                  </a:tcPr>
                </a:tc>
                <a:extLst>
                  <a:ext uri="{0D108BD9-81ED-4DB2-BD59-A6C34878D82A}">
                    <a16:rowId xmlns:a16="http://schemas.microsoft.com/office/drawing/2014/main" val="10004"/>
                  </a:ext>
                </a:extLst>
              </a:tr>
            </a:tbl>
          </a:graphicData>
        </a:graphic>
      </p:graphicFrame>
      <p:sp>
        <p:nvSpPr>
          <p:cNvPr id="17" name="Oval 16">
            <a:extLst>
              <a:ext uri="{FF2B5EF4-FFF2-40B4-BE49-F238E27FC236}">
                <a16:creationId xmlns:a16="http://schemas.microsoft.com/office/drawing/2014/main" id="{49E22D45-BE43-5EC3-C5F6-7B1DEB61C90F}"/>
              </a:ext>
            </a:extLst>
          </p:cNvPr>
          <p:cNvSpPr/>
          <p:nvPr/>
        </p:nvSpPr>
        <p:spPr>
          <a:xfrm>
            <a:off x="2408529" y="3094374"/>
            <a:ext cx="292608" cy="292608"/>
          </a:xfrm>
          <a:prstGeom prst="ellipse">
            <a:avLst/>
          </a:prstGeom>
          <a:solidFill>
            <a:srgbClr val="00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a:extLst>
              <a:ext uri="{FF2B5EF4-FFF2-40B4-BE49-F238E27FC236}">
                <a16:creationId xmlns:a16="http://schemas.microsoft.com/office/drawing/2014/main" id="{12A8B974-13FE-C4F0-BADD-3183AC4B878E}"/>
              </a:ext>
            </a:extLst>
          </p:cNvPr>
          <p:cNvSpPr/>
          <p:nvPr/>
        </p:nvSpPr>
        <p:spPr>
          <a:xfrm>
            <a:off x="2409773" y="3629908"/>
            <a:ext cx="292608" cy="292608"/>
          </a:xfrm>
          <a:prstGeom prst="ellipse">
            <a:avLst/>
          </a:prstGeom>
          <a:solidFill>
            <a:srgbClr val="00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a:extLst>
              <a:ext uri="{FF2B5EF4-FFF2-40B4-BE49-F238E27FC236}">
                <a16:creationId xmlns:a16="http://schemas.microsoft.com/office/drawing/2014/main" id="{BE41E916-8632-8D71-A9A0-F3926642039E}"/>
              </a:ext>
            </a:extLst>
          </p:cNvPr>
          <p:cNvSpPr/>
          <p:nvPr/>
        </p:nvSpPr>
        <p:spPr>
          <a:xfrm>
            <a:off x="2414625" y="5309244"/>
            <a:ext cx="292608" cy="292608"/>
          </a:xfrm>
          <a:prstGeom prst="ellipse">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49F749AF-CC73-7BE4-F254-94DA806DD587}"/>
              </a:ext>
            </a:extLst>
          </p:cNvPr>
          <p:cNvSpPr/>
          <p:nvPr/>
        </p:nvSpPr>
        <p:spPr>
          <a:xfrm>
            <a:off x="2432719" y="6472118"/>
            <a:ext cx="292608" cy="292608"/>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a:extLst>
              <a:ext uri="{FF2B5EF4-FFF2-40B4-BE49-F238E27FC236}">
                <a16:creationId xmlns:a16="http://schemas.microsoft.com/office/drawing/2014/main" id="{C39E46A6-95F2-4119-FB29-40A0D6A09E5B}"/>
              </a:ext>
            </a:extLst>
          </p:cNvPr>
          <p:cNvSpPr/>
          <p:nvPr/>
        </p:nvSpPr>
        <p:spPr>
          <a:xfrm>
            <a:off x="2420687" y="7379893"/>
            <a:ext cx="292608" cy="292608"/>
          </a:xfrm>
          <a:prstGeom prst="ellipse">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6969CBC6-A983-83A7-7AA7-40FC5459631A}"/>
              </a:ext>
            </a:extLst>
          </p:cNvPr>
          <p:cNvSpPr/>
          <p:nvPr/>
        </p:nvSpPr>
        <p:spPr>
          <a:xfrm>
            <a:off x="2408529" y="8141364"/>
            <a:ext cx="292608" cy="292608"/>
          </a:xfrm>
          <a:prstGeom prst="ellipse">
            <a:avLst/>
          </a:prstGeom>
          <a:solidFill>
            <a:srgbClr val="FF0000"/>
          </a:solid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a:extLst>
              <a:ext uri="{FF2B5EF4-FFF2-40B4-BE49-F238E27FC236}">
                <a16:creationId xmlns:a16="http://schemas.microsoft.com/office/drawing/2014/main" id="{FC9FAF40-B575-632F-AF1A-953ECB626BDA}"/>
              </a:ext>
            </a:extLst>
          </p:cNvPr>
          <p:cNvSpPr/>
          <p:nvPr/>
        </p:nvSpPr>
        <p:spPr>
          <a:xfrm>
            <a:off x="13061289" y="84930"/>
            <a:ext cx="219456" cy="219456"/>
          </a:xfrm>
          <a:prstGeom prst="ellipse">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5097" y="18288"/>
            <a:ext cx="9327682" cy="707886"/>
          </a:xfrm>
          <a:prstGeom prst="rect">
            <a:avLst/>
          </a:prstGeom>
          <a:noFill/>
        </p:spPr>
        <p:txBody>
          <a:bodyPr wrap="none">
            <a:spAutoFit/>
          </a:bodyPr>
          <a:lstStyle/>
          <a:p>
            <a:pPr>
              <a:defRPr sz="4000" b="1">
                <a:solidFill>
                  <a:srgbClr val="FFFFFF"/>
                </a:solidFill>
                <a:latin typeface="Calibri"/>
              </a:defRPr>
            </a:pPr>
            <a:r>
              <a:t>SA Readout Summary</a:t>
            </a:r>
            <a:r>
              <a:rPr lang="en-US"/>
              <a:t> - Project 3 (PM Impl)</a:t>
            </a:r>
            <a:endParaRPr/>
          </a:p>
        </p:txBody>
      </p:sp>
      <p:graphicFrame>
        <p:nvGraphicFramePr>
          <p:cNvPr id="3" name="Table 2"/>
          <p:cNvGraphicFramePr>
            <a:graphicFrameLocks noGrp="1"/>
          </p:cNvGraphicFramePr>
          <p:nvPr>
            <p:extLst>
              <p:ext uri="{D42A27DB-BD31-4B8C-83A1-F6EECF244321}">
                <p14:modId xmlns:p14="http://schemas.microsoft.com/office/powerpoint/2010/main" val="2855101948"/>
              </p:ext>
            </p:extLst>
          </p:nvPr>
        </p:nvGraphicFramePr>
        <p:xfrm>
          <a:off x="95097" y="822960"/>
          <a:ext cx="16066008" cy="1645920"/>
        </p:xfrm>
        <a:graphic>
          <a:graphicData uri="http://schemas.openxmlformats.org/drawingml/2006/table">
            <a:tbl>
              <a:tblPr firstRow="1" bandRow="1">
                <a:tableStyleId>{5C22544A-7EE6-4342-B048-85BDC9FD1C3A}</a:tableStyleId>
              </a:tblPr>
              <a:tblGrid>
                <a:gridCol w="16066008">
                  <a:extLst>
                    <a:ext uri="{9D8B030D-6E8A-4147-A177-3AD203B41FA5}">
                      <a16:colId xmlns:a16="http://schemas.microsoft.com/office/drawing/2014/main" val="20000"/>
                    </a:ext>
                  </a:extLst>
                </a:gridCol>
              </a:tblGrid>
              <a:tr h="191324">
                <a:tc>
                  <a:txBody>
                    <a:bodyPr/>
                    <a:lstStyle/>
                    <a:p>
                      <a:pPr algn="ctr"/>
                      <a:r>
                        <a:rPr sz="1600">
                          <a:solidFill>
                            <a:srgbClr val="FFFFFF"/>
                          </a:solidFill>
                          <a:latin typeface="Calibri"/>
                        </a:rPr>
                        <a:t>Deployment</a:t>
                      </a:r>
                    </a:p>
                  </a:txBody>
                  <a:tcPr>
                    <a:solidFill>
                      <a:srgbClr val="0077BE"/>
                    </a:solidFill>
                  </a:tcPr>
                </a:tc>
                <a:extLst>
                  <a:ext uri="{0D108BD9-81ED-4DB2-BD59-A6C34878D82A}">
                    <a16:rowId xmlns:a16="http://schemas.microsoft.com/office/drawing/2014/main" val="10000"/>
                  </a:ext>
                </a:extLst>
              </a:tr>
              <a:tr h="1199949">
                <a:tc>
                  <a:txBody>
                    <a:bodyPr/>
                    <a:lstStyle/>
                    <a:p>
                      <a:pPr marL="285750" indent="-285750">
                        <a:buFont typeface="Arial" panose="020B0604020202020204" pitchFamily="34" charset="0"/>
                        <a:buChar char="•"/>
                      </a:pPr>
                      <a:r>
                        <a:rPr lang="en-US" sz="1600">
                          <a:solidFill>
                            <a:srgbClr val="FFFFFF"/>
                          </a:solidFill>
                          <a:latin typeface="Calibri"/>
                        </a:rPr>
                        <a:t>Recommend adding a high-level overall timeline view depicting the releases and parallel upgrade timelines, as part of Response document</a:t>
                      </a:r>
                    </a:p>
                    <a:p>
                      <a:pPr marL="285750" indent="-285750">
                        <a:buFont typeface="Arial" panose="020B0604020202020204" pitchFamily="34" charset="0"/>
                        <a:buChar char="•"/>
                      </a:pPr>
                      <a:r>
                        <a:rPr lang="en-US" sz="1600">
                          <a:solidFill>
                            <a:srgbClr val="FFFFFF"/>
                          </a:solidFill>
                          <a:latin typeface="Calibri"/>
                        </a:rPr>
                        <a:t>The number of cutover cycles outlined in the response document is considered adequate in relation to the project scope/test cycles planned</a:t>
                      </a:r>
                    </a:p>
                    <a:p>
                      <a:pPr marL="285750" indent="-285750">
                        <a:spcBef>
                          <a:spcPts val="0"/>
                        </a:spcBef>
                        <a:spcAft>
                          <a:spcPts val="0"/>
                        </a:spcAft>
                        <a:buFont typeface="Arial" panose="020B0604020202020204" pitchFamily="34" charset="0"/>
                        <a:buChar char="•"/>
                      </a:pPr>
                      <a:r>
                        <a:rPr lang="en-US" sz="1600">
                          <a:solidFill>
                            <a:srgbClr val="FFFFFF"/>
                          </a:solidFill>
                          <a:latin typeface="Calibri"/>
                        </a:rPr>
                        <a:t>Security, Data and OCM timelines are not well defined and not in line with scope, please update</a:t>
                      </a:r>
                    </a:p>
                    <a:p>
                      <a:pPr marL="285750" indent="-285750">
                        <a:spcBef>
                          <a:spcPts val="0"/>
                        </a:spcBef>
                        <a:spcAft>
                          <a:spcPts val="0"/>
                        </a:spcAft>
                        <a:buFont typeface="Arial" panose="020B0604020202020204" pitchFamily="34" charset="0"/>
                        <a:buChar char="•"/>
                      </a:pPr>
                      <a:r>
                        <a:rPr lang="en-US" sz="1600">
                          <a:solidFill>
                            <a:srgbClr val="FFFFFF"/>
                          </a:solidFill>
                          <a:latin typeface="Calibri"/>
                        </a:rPr>
                        <a:t>Security role design scope is not called out and testing timelines and not included in project scope</a:t>
                      </a:r>
                    </a:p>
                    <a:p>
                      <a:pPr marL="285750" indent="-285750">
                        <a:spcBef>
                          <a:spcPts val="0"/>
                        </a:spcBef>
                        <a:spcAft>
                          <a:spcPts val="0"/>
                        </a:spcAft>
                        <a:buFont typeface="Arial" panose="020B0604020202020204" pitchFamily="34" charset="0"/>
                        <a:buChar char="•"/>
                      </a:pPr>
                      <a:r>
                        <a:rPr lang="en-US" sz="1600">
                          <a:solidFill>
                            <a:srgbClr val="FFFFFF"/>
                          </a:solidFill>
                          <a:latin typeface="Calibri"/>
                        </a:rPr>
                        <a:t>Hypercare timelines are sufficient to ensure there is a smooth transition, as mentioned in Response content</a:t>
                      </a:r>
                    </a:p>
                  </a:txBody>
                  <a:tcPr>
                    <a:solidFill>
                      <a:srgbClr val="000000"/>
                    </a:solidFill>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853300938"/>
              </p:ext>
            </p:extLst>
          </p:nvPr>
        </p:nvGraphicFramePr>
        <p:xfrm>
          <a:off x="95097" y="2853398"/>
          <a:ext cx="16066008" cy="828265"/>
        </p:xfrm>
        <a:graphic>
          <a:graphicData uri="http://schemas.openxmlformats.org/drawingml/2006/table">
            <a:tbl>
              <a:tblPr firstRow="1" bandRow="1">
                <a:tableStyleId>{5C22544A-7EE6-4342-B048-85BDC9FD1C3A}</a:tableStyleId>
              </a:tblPr>
              <a:tblGrid>
                <a:gridCol w="16066008">
                  <a:extLst>
                    <a:ext uri="{9D8B030D-6E8A-4147-A177-3AD203B41FA5}">
                      <a16:colId xmlns:a16="http://schemas.microsoft.com/office/drawing/2014/main" val="20000"/>
                    </a:ext>
                  </a:extLst>
                </a:gridCol>
              </a:tblGrid>
              <a:tr h="365760">
                <a:tc>
                  <a:txBody>
                    <a:bodyPr/>
                    <a:lstStyle/>
                    <a:p>
                      <a:pPr algn="ctr"/>
                      <a:r>
                        <a:rPr sz="1600">
                          <a:solidFill>
                            <a:srgbClr val="FFFFFF"/>
                          </a:solidFill>
                          <a:latin typeface="Calibri"/>
                        </a:rPr>
                        <a:t>Other Offerings</a:t>
                      </a:r>
                    </a:p>
                  </a:txBody>
                  <a:tcPr>
                    <a:solidFill>
                      <a:srgbClr val="0077BE"/>
                    </a:solidFill>
                  </a:tcPr>
                </a:tc>
                <a:extLst>
                  <a:ext uri="{0D108BD9-81ED-4DB2-BD59-A6C34878D82A}">
                    <a16:rowId xmlns:a16="http://schemas.microsoft.com/office/drawing/2014/main" val="10000"/>
                  </a:ext>
                </a:extLst>
              </a:tr>
              <a:tr h="462505">
                <a:tc>
                  <a:txBody>
                    <a:bodyPr/>
                    <a:lstStyle/>
                    <a:p>
                      <a:pPr marL="285750" indent="-285750">
                        <a:buFont typeface="Arial" panose="020B0604020202020204" pitchFamily="34" charset="0"/>
                        <a:buChar char="•"/>
                      </a:pPr>
                      <a:r>
                        <a:rPr lang="en-US" sz="1600">
                          <a:solidFill>
                            <a:schemeClr val="bg1"/>
                          </a:solidFill>
                        </a:rPr>
                        <a:t>Staffing plan includes hours for EFA, OCM and Security</a:t>
                      </a:r>
                      <a:endParaRPr sz="1600">
                        <a:solidFill>
                          <a:schemeClr val="bg1"/>
                        </a:solidFill>
                      </a:endParaRPr>
                    </a:p>
                  </a:txBody>
                  <a:tcPr>
                    <a:solidFill>
                      <a:srgbClr val="000000"/>
                    </a:solidFill>
                  </a:tcPr>
                </a:tc>
                <a:extLst>
                  <a:ext uri="{0D108BD9-81ED-4DB2-BD59-A6C34878D82A}">
                    <a16:rowId xmlns:a16="http://schemas.microsoft.com/office/drawing/2014/main" val="10001"/>
                  </a:ext>
                </a:extLst>
              </a:tr>
            </a:tbl>
          </a:graphicData>
        </a:graphic>
      </p:graphicFrame>
      <p:sp>
        <p:nvSpPr>
          <p:cNvPr id="5" name="Oval 4">
            <a:extLst>
              <a:ext uri="{FF2B5EF4-FFF2-40B4-BE49-F238E27FC236}">
                <a16:creationId xmlns:a16="http://schemas.microsoft.com/office/drawing/2014/main" id="{FF257A1D-5417-E70B-94C2-FB8A8B33EC1A}"/>
              </a:ext>
            </a:extLst>
          </p:cNvPr>
          <p:cNvSpPr/>
          <p:nvPr/>
        </p:nvSpPr>
        <p:spPr>
          <a:xfrm>
            <a:off x="8934458" y="883120"/>
            <a:ext cx="219456" cy="219456"/>
          </a:xfrm>
          <a:prstGeom prst="ellipse">
            <a:avLst/>
          </a:prstGeom>
          <a:solidFill>
            <a:srgbClr val="FFFF00"/>
          </a:solidFill>
          <a:ln>
            <a:solidFill>
              <a:srgbClr val="FF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6C9E5669-D949-5B12-EF04-45EF74F45E77}"/>
              </a:ext>
            </a:extLst>
          </p:cNvPr>
          <p:cNvSpPr/>
          <p:nvPr/>
        </p:nvSpPr>
        <p:spPr>
          <a:xfrm>
            <a:off x="8934458" y="2912337"/>
            <a:ext cx="219456" cy="219456"/>
          </a:xfrm>
          <a:prstGeom prst="ellipse">
            <a:avLst/>
          </a:prstGeom>
          <a:solidFill>
            <a:srgbClr val="92D050"/>
          </a:solidFill>
          <a:ln>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a:extLst>
              <a:ext uri="{FF2B5EF4-FFF2-40B4-BE49-F238E27FC236}">
                <a16:creationId xmlns:a16="http://schemas.microsoft.com/office/drawing/2014/main" id="{E1C754DA-FBB2-D48C-6727-C43D2F06ADE0}"/>
              </a:ext>
            </a:extLst>
          </p:cNvPr>
          <p:cNvGraphicFramePr>
            <a:graphicFrameLocks noGrp="1"/>
          </p:cNvGraphicFramePr>
          <p:nvPr>
            <p:extLst>
              <p:ext uri="{D42A27DB-BD31-4B8C-83A1-F6EECF244321}">
                <p14:modId xmlns:p14="http://schemas.microsoft.com/office/powerpoint/2010/main" val="4176249375"/>
              </p:ext>
            </p:extLst>
          </p:nvPr>
        </p:nvGraphicFramePr>
        <p:xfrm>
          <a:off x="94996" y="4179775"/>
          <a:ext cx="16066008" cy="1607414"/>
        </p:xfrm>
        <a:graphic>
          <a:graphicData uri="http://schemas.openxmlformats.org/drawingml/2006/table">
            <a:tbl>
              <a:tblPr firstRow="1" bandRow="1">
                <a:tableStyleId>{5C22544A-7EE6-4342-B048-85BDC9FD1C3A}</a:tableStyleId>
              </a:tblPr>
              <a:tblGrid>
                <a:gridCol w="16066008">
                  <a:extLst>
                    <a:ext uri="{9D8B030D-6E8A-4147-A177-3AD203B41FA5}">
                      <a16:colId xmlns:a16="http://schemas.microsoft.com/office/drawing/2014/main" val="20000"/>
                    </a:ext>
                  </a:extLst>
                </a:gridCol>
              </a:tblGrid>
              <a:tr h="365760">
                <a:tc>
                  <a:txBody>
                    <a:bodyPr/>
                    <a:lstStyle/>
                    <a:p>
                      <a:pPr algn="ctr"/>
                      <a:r>
                        <a:rPr sz="1600">
                          <a:solidFill>
                            <a:srgbClr val="FFFFFF"/>
                          </a:solidFill>
                          <a:latin typeface="Calibri"/>
                        </a:rPr>
                        <a:t>Recommendations</a:t>
                      </a:r>
                    </a:p>
                  </a:txBody>
                  <a:tcPr>
                    <a:solidFill>
                      <a:srgbClr val="0077BE"/>
                    </a:solidFill>
                  </a:tcPr>
                </a:tc>
                <a:extLst>
                  <a:ext uri="{0D108BD9-81ED-4DB2-BD59-A6C34878D82A}">
                    <a16:rowId xmlns:a16="http://schemas.microsoft.com/office/drawing/2014/main" val="10000"/>
                  </a:ext>
                </a:extLst>
              </a:tr>
              <a:tr h="1241654">
                <a:tc>
                  <a:txBody>
                    <a:bodyPr/>
                    <a:lstStyle/>
                    <a:p>
                      <a:r>
                        <a:rPr lang="en-US" sz="1600">
                          <a:solidFill>
                            <a:srgbClr val="FFFFFF"/>
                          </a:solidFill>
                          <a:latin typeface="Calibri"/>
                        </a:rPr>
                        <a:t>•  There are no assumptions on the Technology - Dev side in the Assumptions Table of the RFP response. A strong recommendation is to add/improve Assumptions on the points not clear</a:t>
                      </a:r>
                    </a:p>
                    <a:p>
                      <a:pPr>
                        <a:spcBef>
                          <a:spcPts val="0"/>
                        </a:spcBef>
                        <a:spcAft>
                          <a:spcPts val="0"/>
                        </a:spcAft>
                      </a:pPr>
                      <a:r>
                        <a:rPr lang="en-US" sz="1600">
                          <a:solidFill>
                            <a:srgbClr val="FFFFFF"/>
                          </a:solidFill>
                          <a:latin typeface="Calibri"/>
                        </a:rPr>
                        <a:t>•  Reporting/Analytics is factored into the staffing, however, is not clearly called out in the response and estimated too in NextGen. Need to add Analytics scope details to Response and fix NextGen estimates for the same</a:t>
                      </a:r>
                    </a:p>
                    <a:p>
                      <a:pPr>
                        <a:spcBef>
                          <a:spcPts val="0"/>
                        </a:spcBef>
                        <a:spcAft>
                          <a:spcPts val="0"/>
                        </a:spcAft>
                      </a:pPr>
                      <a:r>
                        <a:rPr lang="en-US" sz="1600">
                          <a:solidFill>
                            <a:srgbClr val="FFFFFF"/>
                          </a:solidFill>
                          <a:latin typeface="Calibri"/>
                        </a:rPr>
                        <a:t>•  Staffing from other streams integrating with/supporting EAM - Assumptions need to be called out. E.g. Any additional Finance or Project System set up required etc.</a:t>
                      </a:r>
                    </a:p>
                  </a:txBody>
                  <a:tcPr>
                    <a:solidFill>
                      <a:srgbClr val="000000"/>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5097" y="18288"/>
            <a:ext cx="2386584" cy="704088"/>
          </a:xfrm>
          <a:prstGeom prst="rect">
            <a:avLst/>
          </a:prstGeom>
          <a:noFill/>
        </p:spPr>
        <p:txBody>
          <a:bodyPr wrap="none">
            <a:spAutoFit/>
          </a:bodyPr>
          <a:lstStyle/>
          <a:p>
            <a:pPr>
              <a:defRPr sz="4000" b="1">
                <a:solidFill>
                  <a:srgbClr val="FFFFFF"/>
                </a:solidFill>
                <a:latin typeface="Calibri"/>
              </a:defRPr>
            </a:pPr>
            <a:r>
              <a:t>NextGen Estimation Vs Staffing Model</a:t>
            </a:r>
          </a:p>
        </p:txBody>
      </p:sp>
      <p:graphicFrame>
        <p:nvGraphicFramePr>
          <p:cNvPr id="3" name="Table 2"/>
          <p:cNvGraphicFramePr>
            <a:graphicFrameLocks noGrp="1"/>
          </p:cNvGraphicFramePr>
          <p:nvPr>
            <p:extLst>
              <p:ext uri="{D42A27DB-BD31-4B8C-83A1-F6EECF244321}">
                <p14:modId xmlns:p14="http://schemas.microsoft.com/office/powerpoint/2010/main" val="2323672367"/>
              </p:ext>
            </p:extLst>
          </p:nvPr>
        </p:nvGraphicFramePr>
        <p:xfrm>
          <a:off x="649705" y="1077819"/>
          <a:ext cx="12355276" cy="3690660"/>
        </p:xfrm>
        <a:graphic>
          <a:graphicData uri="http://schemas.openxmlformats.org/drawingml/2006/table">
            <a:tbl>
              <a:tblPr firstRow="1" bandRow="1">
                <a:tableStyleId>{5C22544A-7EE6-4342-B048-85BDC9FD1C3A}</a:tableStyleId>
              </a:tblPr>
              <a:tblGrid>
                <a:gridCol w="3729790">
                  <a:extLst>
                    <a:ext uri="{9D8B030D-6E8A-4147-A177-3AD203B41FA5}">
                      <a16:colId xmlns:a16="http://schemas.microsoft.com/office/drawing/2014/main" val="20000"/>
                    </a:ext>
                  </a:extLst>
                </a:gridCol>
                <a:gridCol w="2875162">
                  <a:extLst>
                    <a:ext uri="{9D8B030D-6E8A-4147-A177-3AD203B41FA5}">
                      <a16:colId xmlns:a16="http://schemas.microsoft.com/office/drawing/2014/main" val="20001"/>
                    </a:ext>
                  </a:extLst>
                </a:gridCol>
                <a:gridCol w="2875162">
                  <a:extLst>
                    <a:ext uri="{9D8B030D-6E8A-4147-A177-3AD203B41FA5}">
                      <a16:colId xmlns:a16="http://schemas.microsoft.com/office/drawing/2014/main" val="20002"/>
                    </a:ext>
                  </a:extLst>
                </a:gridCol>
                <a:gridCol w="2875162">
                  <a:extLst>
                    <a:ext uri="{9D8B030D-6E8A-4147-A177-3AD203B41FA5}">
                      <a16:colId xmlns:a16="http://schemas.microsoft.com/office/drawing/2014/main" val="20003"/>
                    </a:ext>
                  </a:extLst>
                </a:gridCol>
              </a:tblGrid>
              <a:tr h="335514">
                <a:tc>
                  <a:txBody>
                    <a:bodyPr/>
                    <a:lstStyle/>
                    <a:p>
                      <a:pPr algn="ctr"/>
                      <a:r>
                        <a:rPr sz="1600">
                          <a:solidFill>
                            <a:srgbClr val="FFFFFF"/>
                          </a:solidFill>
                          <a:latin typeface="Calibri"/>
                        </a:rPr>
                        <a:t>Teams</a:t>
                      </a:r>
                    </a:p>
                  </a:txBody>
                  <a:tcPr>
                    <a:solidFill>
                      <a:srgbClr val="0077BE"/>
                    </a:solidFill>
                  </a:tcPr>
                </a:tc>
                <a:tc>
                  <a:txBody>
                    <a:bodyPr/>
                    <a:lstStyle/>
                    <a:p>
                      <a:pPr algn="ctr"/>
                      <a:r>
                        <a:rPr sz="1600">
                          <a:solidFill>
                            <a:srgbClr val="FFFFFF"/>
                          </a:solidFill>
                          <a:latin typeface="Calibri"/>
                        </a:rPr>
                        <a:t>NextGen Hours</a:t>
                      </a:r>
                    </a:p>
                  </a:txBody>
                  <a:tcPr>
                    <a:solidFill>
                      <a:srgbClr val="0077BE"/>
                    </a:solidFill>
                  </a:tcPr>
                </a:tc>
                <a:tc>
                  <a:txBody>
                    <a:bodyPr/>
                    <a:lstStyle/>
                    <a:p>
                      <a:pPr algn="ctr"/>
                      <a:r>
                        <a:rPr sz="1600">
                          <a:solidFill>
                            <a:srgbClr val="FFFFFF"/>
                          </a:solidFill>
                          <a:latin typeface="Calibri"/>
                        </a:rPr>
                        <a:t>Staffing Hours</a:t>
                      </a:r>
                    </a:p>
                  </a:txBody>
                  <a:tcPr>
                    <a:solidFill>
                      <a:srgbClr val="0077BE"/>
                    </a:solidFill>
                  </a:tcPr>
                </a:tc>
                <a:tc>
                  <a:txBody>
                    <a:bodyPr/>
                    <a:lstStyle/>
                    <a:p>
                      <a:pPr algn="ctr"/>
                      <a:r>
                        <a:rPr sz="1600">
                          <a:solidFill>
                            <a:srgbClr val="FFFFFF"/>
                          </a:solidFill>
                          <a:latin typeface="Calibri"/>
                        </a:rPr>
                        <a:t>Delta</a:t>
                      </a:r>
                    </a:p>
                  </a:txBody>
                  <a:tcPr>
                    <a:solidFill>
                      <a:srgbClr val="0077BE"/>
                    </a:solidFill>
                  </a:tcPr>
                </a:tc>
                <a:extLst>
                  <a:ext uri="{0D108BD9-81ED-4DB2-BD59-A6C34878D82A}">
                    <a16:rowId xmlns:a16="http://schemas.microsoft.com/office/drawing/2014/main" val="10000"/>
                  </a:ext>
                </a:extLst>
              </a:tr>
              <a:tr h="335514">
                <a:tc>
                  <a:txBody>
                    <a:bodyPr/>
                    <a:lstStyle/>
                    <a:p>
                      <a:pPr algn="ctr"/>
                      <a:r>
                        <a:rPr sz="1600">
                          <a:solidFill>
                            <a:srgbClr val="FFFFFF"/>
                          </a:solidFill>
                          <a:latin typeface="Calibri"/>
                        </a:rPr>
                        <a:t>Data </a:t>
                      </a:r>
                      <a:r>
                        <a:rPr lang="en-US" sz="1600">
                          <a:solidFill>
                            <a:srgbClr val="FFFFFF"/>
                          </a:solidFill>
                          <a:latin typeface="Calibri"/>
                        </a:rPr>
                        <a:t>(Migration</a:t>
                      </a:r>
                      <a:r>
                        <a:rPr sz="1600">
                          <a:solidFill>
                            <a:srgbClr val="FFFFFF"/>
                          </a:solidFill>
                          <a:latin typeface="Calibri"/>
                        </a:rPr>
                        <a:t>, </a:t>
                      </a:r>
                      <a:r>
                        <a:rPr lang="en-US" sz="1600">
                          <a:solidFill>
                            <a:srgbClr val="FFFFFF"/>
                          </a:solidFill>
                          <a:latin typeface="Calibri"/>
                        </a:rPr>
                        <a:t>MDG a</a:t>
                      </a:r>
                      <a:r>
                        <a:rPr sz="1600">
                          <a:solidFill>
                            <a:srgbClr val="FFFFFF"/>
                          </a:solidFill>
                          <a:latin typeface="Calibri"/>
                        </a:rPr>
                        <a:t>nd Analytics)</a:t>
                      </a:r>
                    </a:p>
                  </a:txBody>
                  <a:tcPr>
                    <a:solidFill>
                      <a:srgbClr val="000000"/>
                    </a:solidFill>
                  </a:tcPr>
                </a:tc>
                <a:tc>
                  <a:txBody>
                    <a:bodyPr/>
                    <a:lstStyle/>
                    <a:p>
                      <a:pPr algn="r"/>
                      <a:r>
                        <a:rPr sz="1600">
                          <a:solidFill>
                            <a:srgbClr val="FFFFFF"/>
                          </a:solidFill>
                          <a:latin typeface="Calibri"/>
                        </a:rPr>
                        <a:t>3011</a:t>
                      </a:r>
                    </a:p>
                  </a:txBody>
                  <a:tcPr>
                    <a:solidFill>
                      <a:srgbClr val="000000"/>
                    </a:solidFill>
                  </a:tcPr>
                </a:tc>
                <a:tc>
                  <a:txBody>
                    <a:bodyPr/>
                    <a:lstStyle/>
                    <a:p>
                      <a:pPr algn="r"/>
                      <a:r>
                        <a:rPr sz="1600">
                          <a:solidFill>
                            <a:srgbClr val="FFFFFF"/>
                          </a:solidFill>
                          <a:latin typeface="Calibri"/>
                        </a:rPr>
                        <a:t>14365</a:t>
                      </a:r>
                    </a:p>
                  </a:txBody>
                  <a:tcPr>
                    <a:solidFill>
                      <a:srgbClr val="000000"/>
                    </a:solidFill>
                  </a:tcPr>
                </a:tc>
                <a:tc>
                  <a:txBody>
                    <a:bodyPr/>
                    <a:lstStyle/>
                    <a:p>
                      <a:pPr algn="r"/>
                      <a:r>
                        <a:rPr sz="1600">
                          <a:solidFill>
                            <a:srgbClr val="FFFFFF"/>
                          </a:solidFill>
                          <a:latin typeface="Calibri"/>
                        </a:rPr>
                        <a:t>11354</a:t>
                      </a:r>
                    </a:p>
                  </a:txBody>
                  <a:tcPr>
                    <a:solidFill>
                      <a:srgbClr val="000000"/>
                    </a:solidFill>
                  </a:tcPr>
                </a:tc>
                <a:extLst>
                  <a:ext uri="{0D108BD9-81ED-4DB2-BD59-A6C34878D82A}">
                    <a16:rowId xmlns:a16="http://schemas.microsoft.com/office/drawing/2014/main" val="10001"/>
                  </a:ext>
                </a:extLst>
              </a:tr>
              <a:tr h="335514">
                <a:tc>
                  <a:txBody>
                    <a:bodyPr/>
                    <a:lstStyle/>
                    <a:p>
                      <a:pPr algn="ctr"/>
                      <a:r>
                        <a:rPr sz="1600">
                          <a:solidFill>
                            <a:srgbClr val="FFFFFF"/>
                          </a:solidFill>
                          <a:latin typeface="Calibri"/>
                        </a:rPr>
                        <a:t>Deployment (Cutover)</a:t>
                      </a:r>
                    </a:p>
                  </a:txBody>
                  <a:tcPr>
                    <a:solidFill>
                      <a:srgbClr val="000000"/>
                    </a:solidFill>
                  </a:tcPr>
                </a:tc>
                <a:tc>
                  <a:txBody>
                    <a:bodyPr/>
                    <a:lstStyle/>
                    <a:p>
                      <a:pPr algn="r"/>
                      <a:r>
                        <a:rPr sz="1600">
                          <a:solidFill>
                            <a:srgbClr val="FFFFFF"/>
                          </a:solidFill>
                          <a:latin typeface="Calibri"/>
                        </a:rPr>
                        <a:t>1920</a:t>
                      </a:r>
                    </a:p>
                  </a:txBody>
                  <a:tcPr>
                    <a:solidFill>
                      <a:srgbClr val="000000"/>
                    </a:solidFill>
                  </a:tcPr>
                </a:tc>
                <a:tc>
                  <a:txBody>
                    <a:bodyPr/>
                    <a:lstStyle/>
                    <a:p>
                      <a:pPr algn="r"/>
                      <a:r>
                        <a:rPr sz="1600">
                          <a:solidFill>
                            <a:srgbClr val="FFFFFF"/>
                          </a:solidFill>
                          <a:latin typeface="Calibri"/>
                        </a:rPr>
                        <a:t>3080</a:t>
                      </a:r>
                    </a:p>
                  </a:txBody>
                  <a:tcPr>
                    <a:solidFill>
                      <a:srgbClr val="000000"/>
                    </a:solidFill>
                  </a:tcPr>
                </a:tc>
                <a:tc>
                  <a:txBody>
                    <a:bodyPr/>
                    <a:lstStyle/>
                    <a:p>
                      <a:pPr algn="r"/>
                      <a:r>
                        <a:rPr sz="1600">
                          <a:solidFill>
                            <a:srgbClr val="FFFFFF"/>
                          </a:solidFill>
                          <a:latin typeface="Calibri"/>
                        </a:rPr>
                        <a:t>1160</a:t>
                      </a:r>
                    </a:p>
                  </a:txBody>
                  <a:tcPr>
                    <a:solidFill>
                      <a:srgbClr val="000000"/>
                    </a:solidFill>
                  </a:tcPr>
                </a:tc>
                <a:extLst>
                  <a:ext uri="{0D108BD9-81ED-4DB2-BD59-A6C34878D82A}">
                    <a16:rowId xmlns:a16="http://schemas.microsoft.com/office/drawing/2014/main" val="10002"/>
                  </a:ext>
                </a:extLst>
              </a:tr>
              <a:tr h="335514">
                <a:tc>
                  <a:txBody>
                    <a:bodyPr/>
                    <a:lstStyle/>
                    <a:p>
                      <a:pPr algn="ctr"/>
                      <a:r>
                        <a:rPr sz="1600">
                          <a:solidFill>
                            <a:srgbClr val="FFFFFF"/>
                          </a:solidFill>
                          <a:latin typeface="Calibri"/>
                        </a:rPr>
                        <a:t>Development</a:t>
                      </a:r>
                    </a:p>
                  </a:txBody>
                  <a:tcPr>
                    <a:solidFill>
                      <a:srgbClr val="000000"/>
                    </a:solidFill>
                  </a:tcPr>
                </a:tc>
                <a:tc>
                  <a:txBody>
                    <a:bodyPr/>
                    <a:lstStyle/>
                    <a:p>
                      <a:pPr algn="r"/>
                      <a:r>
                        <a:rPr sz="1600">
                          <a:solidFill>
                            <a:srgbClr val="FFFFFF"/>
                          </a:solidFill>
                          <a:latin typeface="Calibri"/>
                        </a:rPr>
                        <a:t>18493</a:t>
                      </a:r>
                    </a:p>
                  </a:txBody>
                  <a:tcPr>
                    <a:solidFill>
                      <a:srgbClr val="000000"/>
                    </a:solidFill>
                  </a:tcPr>
                </a:tc>
                <a:tc>
                  <a:txBody>
                    <a:bodyPr/>
                    <a:lstStyle/>
                    <a:p>
                      <a:pPr algn="r"/>
                      <a:r>
                        <a:rPr sz="1600">
                          <a:solidFill>
                            <a:srgbClr val="FFFFFF"/>
                          </a:solidFill>
                          <a:latin typeface="Calibri"/>
                        </a:rPr>
                        <a:t>20165</a:t>
                      </a:r>
                    </a:p>
                  </a:txBody>
                  <a:tcPr>
                    <a:solidFill>
                      <a:srgbClr val="000000"/>
                    </a:solidFill>
                  </a:tcPr>
                </a:tc>
                <a:tc>
                  <a:txBody>
                    <a:bodyPr/>
                    <a:lstStyle/>
                    <a:p>
                      <a:pPr algn="r"/>
                      <a:r>
                        <a:rPr sz="1600">
                          <a:solidFill>
                            <a:srgbClr val="FFFFFF"/>
                          </a:solidFill>
                          <a:latin typeface="Calibri"/>
                        </a:rPr>
                        <a:t>1672</a:t>
                      </a:r>
                    </a:p>
                  </a:txBody>
                  <a:tcPr>
                    <a:solidFill>
                      <a:srgbClr val="000000"/>
                    </a:solidFill>
                  </a:tcPr>
                </a:tc>
                <a:extLst>
                  <a:ext uri="{0D108BD9-81ED-4DB2-BD59-A6C34878D82A}">
                    <a16:rowId xmlns:a16="http://schemas.microsoft.com/office/drawing/2014/main" val="10003"/>
                  </a:ext>
                </a:extLst>
              </a:tr>
              <a:tr h="335514">
                <a:tc>
                  <a:txBody>
                    <a:bodyPr/>
                    <a:lstStyle/>
                    <a:p>
                      <a:pPr algn="ctr"/>
                      <a:r>
                        <a:rPr sz="1600">
                          <a:solidFill>
                            <a:srgbClr val="FFFFFF"/>
                          </a:solidFill>
                          <a:latin typeface="Calibri"/>
                        </a:rPr>
                        <a:t>Functional</a:t>
                      </a:r>
                    </a:p>
                  </a:txBody>
                  <a:tcPr>
                    <a:solidFill>
                      <a:srgbClr val="000000"/>
                    </a:solidFill>
                  </a:tcPr>
                </a:tc>
                <a:tc>
                  <a:txBody>
                    <a:bodyPr/>
                    <a:lstStyle/>
                    <a:p>
                      <a:pPr algn="r"/>
                      <a:r>
                        <a:rPr sz="1600">
                          <a:solidFill>
                            <a:srgbClr val="FFFFFF"/>
                          </a:solidFill>
                          <a:latin typeface="Calibri"/>
                        </a:rPr>
                        <a:t>12977</a:t>
                      </a:r>
                    </a:p>
                  </a:txBody>
                  <a:tcPr>
                    <a:solidFill>
                      <a:srgbClr val="000000"/>
                    </a:solidFill>
                  </a:tcPr>
                </a:tc>
                <a:tc>
                  <a:txBody>
                    <a:bodyPr/>
                    <a:lstStyle/>
                    <a:p>
                      <a:pPr algn="r"/>
                      <a:r>
                        <a:rPr sz="1600">
                          <a:solidFill>
                            <a:srgbClr val="FFFFFF"/>
                          </a:solidFill>
                          <a:latin typeface="Calibri"/>
                        </a:rPr>
                        <a:t>14445</a:t>
                      </a:r>
                    </a:p>
                  </a:txBody>
                  <a:tcPr>
                    <a:solidFill>
                      <a:srgbClr val="000000"/>
                    </a:solidFill>
                  </a:tcPr>
                </a:tc>
                <a:tc>
                  <a:txBody>
                    <a:bodyPr/>
                    <a:lstStyle/>
                    <a:p>
                      <a:pPr algn="r"/>
                      <a:r>
                        <a:rPr sz="1600">
                          <a:solidFill>
                            <a:srgbClr val="FFFFFF"/>
                          </a:solidFill>
                          <a:latin typeface="Calibri"/>
                        </a:rPr>
                        <a:t>1468</a:t>
                      </a:r>
                    </a:p>
                  </a:txBody>
                  <a:tcPr>
                    <a:solidFill>
                      <a:srgbClr val="000000"/>
                    </a:solidFill>
                  </a:tcPr>
                </a:tc>
                <a:extLst>
                  <a:ext uri="{0D108BD9-81ED-4DB2-BD59-A6C34878D82A}">
                    <a16:rowId xmlns:a16="http://schemas.microsoft.com/office/drawing/2014/main" val="10004"/>
                  </a:ext>
                </a:extLst>
              </a:tr>
              <a:tr h="335514">
                <a:tc>
                  <a:txBody>
                    <a:bodyPr/>
                    <a:lstStyle/>
                    <a:p>
                      <a:pPr algn="ctr"/>
                      <a:r>
                        <a:rPr sz="1600">
                          <a:solidFill>
                            <a:srgbClr val="FFFFFF"/>
                          </a:solidFill>
                          <a:latin typeface="Calibri"/>
                        </a:rPr>
                        <a:t>Infrastructure</a:t>
                      </a:r>
                    </a:p>
                  </a:txBody>
                  <a:tcPr>
                    <a:solidFill>
                      <a:srgbClr val="000000"/>
                    </a:solidFill>
                  </a:tcPr>
                </a:tc>
                <a:tc>
                  <a:txBody>
                    <a:bodyPr/>
                    <a:lstStyle/>
                    <a:p>
                      <a:pPr algn="r"/>
                      <a:r>
                        <a:rPr sz="1600">
                          <a:solidFill>
                            <a:srgbClr val="FFFFFF"/>
                          </a:solidFill>
                          <a:latin typeface="Calibri"/>
                        </a:rPr>
                        <a:t>3674</a:t>
                      </a:r>
                    </a:p>
                  </a:txBody>
                  <a:tcPr>
                    <a:solidFill>
                      <a:srgbClr val="000000"/>
                    </a:solidFill>
                  </a:tcPr>
                </a:tc>
                <a:tc>
                  <a:txBody>
                    <a:bodyPr/>
                    <a:lstStyle/>
                    <a:p>
                      <a:pPr algn="r"/>
                      <a:r>
                        <a:rPr sz="1600">
                          <a:solidFill>
                            <a:srgbClr val="FFFFFF"/>
                          </a:solidFill>
                          <a:latin typeface="Calibri"/>
                        </a:rPr>
                        <a:t>200</a:t>
                      </a:r>
                    </a:p>
                  </a:txBody>
                  <a:tcPr>
                    <a:solidFill>
                      <a:srgbClr val="000000"/>
                    </a:solidFill>
                  </a:tcPr>
                </a:tc>
                <a:tc>
                  <a:txBody>
                    <a:bodyPr/>
                    <a:lstStyle/>
                    <a:p>
                      <a:pPr algn="r"/>
                      <a:r>
                        <a:rPr sz="1600">
                          <a:solidFill>
                            <a:srgbClr val="FFFFFF"/>
                          </a:solidFill>
                          <a:latin typeface="Calibri"/>
                        </a:rPr>
                        <a:t>-3474</a:t>
                      </a:r>
                    </a:p>
                  </a:txBody>
                  <a:tcPr>
                    <a:solidFill>
                      <a:srgbClr val="000000"/>
                    </a:solidFill>
                  </a:tcPr>
                </a:tc>
                <a:extLst>
                  <a:ext uri="{0D108BD9-81ED-4DB2-BD59-A6C34878D82A}">
                    <a16:rowId xmlns:a16="http://schemas.microsoft.com/office/drawing/2014/main" val="10005"/>
                  </a:ext>
                </a:extLst>
              </a:tr>
              <a:tr h="335514">
                <a:tc>
                  <a:txBody>
                    <a:bodyPr/>
                    <a:lstStyle/>
                    <a:p>
                      <a:pPr algn="ctr"/>
                      <a:r>
                        <a:rPr sz="1600">
                          <a:solidFill>
                            <a:srgbClr val="FFFFFF"/>
                          </a:solidFill>
                          <a:latin typeface="Calibri"/>
                        </a:rPr>
                        <a:t>Organizational Change Management</a:t>
                      </a:r>
                    </a:p>
                  </a:txBody>
                  <a:tcPr>
                    <a:solidFill>
                      <a:srgbClr val="000000"/>
                    </a:solidFill>
                  </a:tcPr>
                </a:tc>
                <a:tc>
                  <a:txBody>
                    <a:bodyPr/>
                    <a:lstStyle/>
                    <a:p>
                      <a:pPr algn="r"/>
                      <a:r>
                        <a:rPr sz="1600">
                          <a:solidFill>
                            <a:srgbClr val="FFFFFF"/>
                          </a:solidFill>
                          <a:latin typeface="Calibri"/>
                        </a:rPr>
                        <a:t>8024</a:t>
                      </a:r>
                    </a:p>
                  </a:txBody>
                  <a:tcPr>
                    <a:solidFill>
                      <a:srgbClr val="000000"/>
                    </a:solidFill>
                  </a:tcPr>
                </a:tc>
                <a:tc>
                  <a:txBody>
                    <a:bodyPr/>
                    <a:lstStyle/>
                    <a:p>
                      <a:pPr algn="r"/>
                      <a:r>
                        <a:rPr sz="1600">
                          <a:solidFill>
                            <a:srgbClr val="FFFFFF"/>
                          </a:solidFill>
                          <a:latin typeface="Calibri"/>
                        </a:rPr>
                        <a:t>8578</a:t>
                      </a:r>
                    </a:p>
                  </a:txBody>
                  <a:tcPr>
                    <a:solidFill>
                      <a:srgbClr val="000000"/>
                    </a:solidFill>
                  </a:tcPr>
                </a:tc>
                <a:tc>
                  <a:txBody>
                    <a:bodyPr/>
                    <a:lstStyle/>
                    <a:p>
                      <a:pPr algn="r"/>
                      <a:r>
                        <a:rPr sz="1600">
                          <a:solidFill>
                            <a:srgbClr val="FFFFFF"/>
                          </a:solidFill>
                          <a:latin typeface="Calibri"/>
                        </a:rPr>
                        <a:t>554</a:t>
                      </a:r>
                    </a:p>
                  </a:txBody>
                  <a:tcPr>
                    <a:solidFill>
                      <a:srgbClr val="000000"/>
                    </a:solidFill>
                  </a:tcPr>
                </a:tc>
                <a:extLst>
                  <a:ext uri="{0D108BD9-81ED-4DB2-BD59-A6C34878D82A}">
                    <a16:rowId xmlns:a16="http://schemas.microsoft.com/office/drawing/2014/main" val="10006"/>
                  </a:ext>
                </a:extLst>
              </a:tr>
              <a:tr h="335514">
                <a:tc>
                  <a:txBody>
                    <a:bodyPr/>
                    <a:lstStyle/>
                    <a:p>
                      <a:pPr algn="ctr"/>
                      <a:r>
                        <a:rPr sz="1600">
                          <a:solidFill>
                            <a:srgbClr val="FFFFFF"/>
                          </a:solidFill>
                          <a:latin typeface="Calibri"/>
                        </a:rPr>
                        <a:t>Project Management</a:t>
                      </a:r>
                    </a:p>
                  </a:txBody>
                  <a:tcPr>
                    <a:solidFill>
                      <a:srgbClr val="000000"/>
                    </a:solidFill>
                  </a:tcPr>
                </a:tc>
                <a:tc>
                  <a:txBody>
                    <a:bodyPr/>
                    <a:lstStyle/>
                    <a:p>
                      <a:pPr algn="r"/>
                      <a:r>
                        <a:rPr sz="1600">
                          <a:solidFill>
                            <a:srgbClr val="FFFFFF"/>
                          </a:solidFill>
                          <a:latin typeface="Calibri"/>
                        </a:rPr>
                        <a:t>3292</a:t>
                      </a:r>
                    </a:p>
                  </a:txBody>
                  <a:tcPr>
                    <a:solidFill>
                      <a:srgbClr val="000000"/>
                    </a:solidFill>
                  </a:tcPr>
                </a:tc>
                <a:tc>
                  <a:txBody>
                    <a:bodyPr/>
                    <a:lstStyle/>
                    <a:p>
                      <a:pPr algn="r"/>
                      <a:r>
                        <a:rPr sz="1600">
                          <a:solidFill>
                            <a:srgbClr val="FFFFFF"/>
                          </a:solidFill>
                          <a:latin typeface="Calibri"/>
                        </a:rPr>
                        <a:t>3056.0</a:t>
                      </a:r>
                    </a:p>
                  </a:txBody>
                  <a:tcPr>
                    <a:solidFill>
                      <a:srgbClr val="000000"/>
                    </a:solidFill>
                  </a:tcPr>
                </a:tc>
                <a:tc>
                  <a:txBody>
                    <a:bodyPr/>
                    <a:lstStyle/>
                    <a:p>
                      <a:pPr algn="r"/>
                      <a:r>
                        <a:rPr sz="1600">
                          <a:solidFill>
                            <a:srgbClr val="FFFFFF"/>
                          </a:solidFill>
                          <a:latin typeface="Calibri"/>
                        </a:rPr>
                        <a:t>-236</a:t>
                      </a:r>
                    </a:p>
                  </a:txBody>
                  <a:tcPr>
                    <a:solidFill>
                      <a:srgbClr val="000000"/>
                    </a:solidFill>
                  </a:tcPr>
                </a:tc>
                <a:extLst>
                  <a:ext uri="{0D108BD9-81ED-4DB2-BD59-A6C34878D82A}">
                    <a16:rowId xmlns:a16="http://schemas.microsoft.com/office/drawing/2014/main" val="10007"/>
                  </a:ext>
                </a:extLst>
              </a:tr>
              <a:tr h="335514">
                <a:tc>
                  <a:txBody>
                    <a:bodyPr/>
                    <a:lstStyle/>
                    <a:p>
                      <a:pPr algn="ctr"/>
                      <a:r>
                        <a:rPr sz="1600">
                          <a:solidFill>
                            <a:srgbClr val="FFFFFF"/>
                          </a:solidFill>
                          <a:latin typeface="Calibri"/>
                        </a:rPr>
                        <a:t>Security &amp; Controls</a:t>
                      </a:r>
                    </a:p>
                  </a:txBody>
                  <a:tcPr>
                    <a:solidFill>
                      <a:srgbClr val="000000"/>
                    </a:solidFill>
                  </a:tcPr>
                </a:tc>
                <a:tc>
                  <a:txBody>
                    <a:bodyPr/>
                    <a:lstStyle/>
                    <a:p>
                      <a:pPr algn="r"/>
                      <a:r>
                        <a:rPr sz="1600">
                          <a:solidFill>
                            <a:srgbClr val="FFFFFF"/>
                          </a:solidFill>
                          <a:latin typeface="Calibri"/>
                        </a:rPr>
                        <a:t>3747</a:t>
                      </a:r>
                    </a:p>
                  </a:txBody>
                  <a:tcPr>
                    <a:solidFill>
                      <a:srgbClr val="000000"/>
                    </a:solidFill>
                  </a:tcPr>
                </a:tc>
                <a:tc>
                  <a:txBody>
                    <a:bodyPr/>
                    <a:lstStyle/>
                    <a:p>
                      <a:pPr algn="r"/>
                      <a:r>
                        <a:rPr sz="1600">
                          <a:solidFill>
                            <a:srgbClr val="FFFFFF"/>
                          </a:solidFill>
                          <a:latin typeface="Calibri"/>
                        </a:rPr>
                        <a:t>7615</a:t>
                      </a:r>
                    </a:p>
                  </a:txBody>
                  <a:tcPr>
                    <a:solidFill>
                      <a:srgbClr val="000000"/>
                    </a:solidFill>
                  </a:tcPr>
                </a:tc>
                <a:tc>
                  <a:txBody>
                    <a:bodyPr/>
                    <a:lstStyle/>
                    <a:p>
                      <a:pPr algn="r"/>
                      <a:r>
                        <a:rPr sz="1600">
                          <a:solidFill>
                            <a:srgbClr val="FFFFFF"/>
                          </a:solidFill>
                          <a:latin typeface="Calibri"/>
                        </a:rPr>
                        <a:t>3868</a:t>
                      </a:r>
                    </a:p>
                  </a:txBody>
                  <a:tcPr>
                    <a:solidFill>
                      <a:srgbClr val="000000"/>
                    </a:solidFill>
                  </a:tcPr>
                </a:tc>
                <a:extLst>
                  <a:ext uri="{0D108BD9-81ED-4DB2-BD59-A6C34878D82A}">
                    <a16:rowId xmlns:a16="http://schemas.microsoft.com/office/drawing/2014/main" val="10008"/>
                  </a:ext>
                </a:extLst>
              </a:tr>
              <a:tr h="335514">
                <a:tc>
                  <a:txBody>
                    <a:bodyPr/>
                    <a:lstStyle/>
                    <a:p>
                      <a:pPr algn="ctr"/>
                      <a:r>
                        <a:rPr sz="1600">
                          <a:solidFill>
                            <a:srgbClr val="FFFFFF"/>
                          </a:solidFill>
                          <a:latin typeface="Calibri"/>
                        </a:rPr>
                        <a:t>Testing</a:t>
                      </a:r>
                    </a:p>
                  </a:txBody>
                  <a:tcPr>
                    <a:solidFill>
                      <a:srgbClr val="000000"/>
                    </a:solidFill>
                  </a:tcPr>
                </a:tc>
                <a:tc>
                  <a:txBody>
                    <a:bodyPr/>
                    <a:lstStyle/>
                    <a:p>
                      <a:pPr algn="r"/>
                      <a:r>
                        <a:rPr sz="1600">
                          <a:solidFill>
                            <a:srgbClr val="FFFFFF"/>
                          </a:solidFill>
                          <a:latin typeface="Calibri"/>
                        </a:rPr>
                        <a:t>9732</a:t>
                      </a:r>
                    </a:p>
                  </a:txBody>
                  <a:tcPr>
                    <a:solidFill>
                      <a:srgbClr val="000000"/>
                    </a:solidFill>
                  </a:tcPr>
                </a:tc>
                <a:tc>
                  <a:txBody>
                    <a:bodyPr/>
                    <a:lstStyle/>
                    <a:p>
                      <a:pPr algn="r"/>
                      <a:r>
                        <a:rPr sz="1600">
                          <a:solidFill>
                            <a:srgbClr val="FFFFFF"/>
                          </a:solidFill>
                          <a:latin typeface="Calibri"/>
                        </a:rPr>
                        <a:t>0</a:t>
                      </a:r>
                    </a:p>
                  </a:txBody>
                  <a:tcPr>
                    <a:solidFill>
                      <a:srgbClr val="000000"/>
                    </a:solidFill>
                  </a:tcPr>
                </a:tc>
                <a:tc>
                  <a:txBody>
                    <a:bodyPr/>
                    <a:lstStyle/>
                    <a:p>
                      <a:pPr algn="r"/>
                      <a:r>
                        <a:rPr sz="1600">
                          <a:solidFill>
                            <a:srgbClr val="FFFFFF"/>
                          </a:solidFill>
                          <a:latin typeface="Calibri"/>
                        </a:rPr>
                        <a:t>-9732</a:t>
                      </a:r>
                    </a:p>
                  </a:txBody>
                  <a:tcPr>
                    <a:solidFill>
                      <a:srgbClr val="000000"/>
                    </a:solidFill>
                  </a:tcPr>
                </a:tc>
                <a:extLst>
                  <a:ext uri="{0D108BD9-81ED-4DB2-BD59-A6C34878D82A}">
                    <a16:rowId xmlns:a16="http://schemas.microsoft.com/office/drawing/2014/main" val="10009"/>
                  </a:ext>
                </a:extLst>
              </a:tr>
              <a:tr h="335520">
                <a:tc>
                  <a:txBody>
                    <a:bodyPr/>
                    <a:lstStyle/>
                    <a:p>
                      <a:pPr algn="ctr"/>
                      <a:r>
                        <a:rPr sz="1600" b="1">
                          <a:solidFill>
                            <a:srgbClr val="FFFFFF"/>
                          </a:solidFill>
                          <a:latin typeface="Calibri"/>
                        </a:rPr>
                        <a:t>Grand Total</a:t>
                      </a:r>
                    </a:p>
                  </a:txBody>
                  <a:tcPr>
                    <a:solidFill>
                      <a:srgbClr val="000000"/>
                    </a:solidFill>
                  </a:tcPr>
                </a:tc>
                <a:tc>
                  <a:txBody>
                    <a:bodyPr/>
                    <a:lstStyle/>
                    <a:p>
                      <a:pPr algn="r"/>
                      <a:r>
                        <a:rPr sz="1600" b="1">
                          <a:solidFill>
                            <a:srgbClr val="FFFFFF"/>
                          </a:solidFill>
                          <a:latin typeface="Calibri"/>
                        </a:rPr>
                        <a:t>64871</a:t>
                      </a:r>
                    </a:p>
                  </a:txBody>
                  <a:tcPr>
                    <a:solidFill>
                      <a:srgbClr val="000000"/>
                    </a:solidFill>
                  </a:tcPr>
                </a:tc>
                <a:tc>
                  <a:txBody>
                    <a:bodyPr/>
                    <a:lstStyle/>
                    <a:p>
                      <a:pPr algn="r"/>
                      <a:r>
                        <a:rPr sz="1600" b="1">
                          <a:solidFill>
                            <a:srgbClr val="FFFFFF"/>
                          </a:solidFill>
                          <a:latin typeface="Calibri"/>
                        </a:rPr>
                        <a:t>71504</a:t>
                      </a:r>
                    </a:p>
                  </a:txBody>
                  <a:tcPr>
                    <a:solidFill>
                      <a:srgbClr val="000000"/>
                    </a:solidFill>
                  </a:tcPr>
                </a:tc>
                <a:tc>
                  <a:txBody>
                    <a:bodyPr/>
                    <a:lstStyle/>
                    <a:p>
                      <a:pPr algn="r"/>
                      <a:endParaRPr sz="1600" b="1">
                        <a:solidFill>
                          <a:srgbClr val="FFFFFF"/>
                        </a:solidFill>
                        <a:latin typeface="Calibri"/>
                      </a:endParaRPr>
                    </a:p>
                  </a:txBody>
                  <a:tcPr>
                    <a:solidFill>
                      <a:srgbClr val="000000"/>
                    </a:solidFill>
                  </a:tcPr>
                </a:tc>
                <a:extLst>
                  <a:ext uri="{0D108BD9-81ED-4DB2-BD59-A6C34878D82A}">
                    <a16:rowId xmlns:a16="http://schemas.microsoft.com/office/drawing/2014/main" val="10012"/>
                  </a:ext>
                </a:extLst>
              </a:tr>
            </a:tbl>
          </a:graphicData>
        </a:graphic>
      </p:graphicFrame>
      <p:sp>
        <p:nvSpPr>
          <p:cNvPr id="4" name="TextBox 3"/>
          <p:cNvSpPr txBox="1"/>
          <p:nvPr/>
        </p:nvSpPr>
        <p:spPr>
          <a:xfrm>
            <a:off x="95097" y="5485430"/>
            <a:ext cx="1600200" cy="704088"/>
          </a:xfrm>
          <a:prstGeom prst="rect">
            <a:avLst/>
          </a:prstGeom>
          <a:noFill/>
        </p:spPr>
        <p:txBody>
          <a:bodyPr wrap="none">
            <a:spAutoFit/>
          </a:bodyPr>
          <a:lstStyle/>
          <a:p>
            <a:pPr>
              <a:defRPr sz="4000" b="1">
                <a:solidFill>
                  <a:srgbClr val="FFFFFF"/>
                </a:solidFill>
                <a:latin typeface="Calibri"/>
              </a:defRPr>
            </a:pPr>
            <a:r>
              <a:t>Notes:</a:t>
            </a:r>
          </a:p>
        </p:txBody>
      </p:sp>
      <p:sp>
        <p:nvSpPr>
          <p:cNvPr id="5" name="TextBox 4"/>
          <p:cNvSpPr txBox="1"/>
          <p:nvPr/>
        </p:nvSpPr>
        <p:spPr>
          <a:xfrm>
            <a:off x="203381" y="6190039"/>
            <a:ext cx="15570019" cy="2062103"/>
          </a:xfrm>
          <a:prstGeom prst="rect">
            <a:avLst/>
          </a:prstGeom>
          <a:noFill/>
        </p:spPr>
        <p:txBody>
          <a:bodyPr wrap="square">
            <a:spAutoFit/>
          </a:bodyPr>
          <a:lstStyle/>
          <a:p>
            <a:pPr marL="285750" indent="-285750">
              <a:buFont typeface="Arial" panose="020B0604020202020204" pitchFamily="34" charset="0"/>
              <a:buChar char="•"/>
              <a:defRPr sz="1600">
                <a:solidFill>
                  <a:srgbClr val="FFFFFF"/>
                </a:solidFill>
                <a:latin typeface="Calibri"/>
              </a:defRPr>
            </a:pPr>
            <a:r>
              <a:rPr lang="en-US"/>
              <a:t>Overall, total staffing hours are higher than total estimated NextGen hours by ~10%. However, for specific teams there is major variance between estimated vs staffing hours that need to be checked and adjusted</a:t>
            </a:r>
          </a:p>
          <a:p>
            <a:pPr marL="285750" indent="-285750">
              <a:buFont typeface="Arial" panose="020B0604020202020204" pitchFamily="34" charset="0"/>
              <a:buChar char="•"/>
              <a:defRPr sz="1600">
                <a:solidFill>
                  <a:srgbClr val="FFFFFF"/>
                </a:solidFill>
                <a:latin typeface="Calibri"/>
              </a:defRPr>
            </a:pPr>
            <a:r>
              <a:rPr lang="en-US"/>
              <a:t>NextGen estimates for Data do not include Analytics scope inputs leading to major variance in NextGen Vs Staffing hours (which has Analytics efforts baked in). Need to add Analytics scope inputs to NextGen estimation and further revisit staffing hours for Data teams</a:t>
            </a:r>
          </a:p>
          <a:p>
            <a:pPr marL="285750" indent="-285750">
              <a:buFont typeface="Arial" panose="020B0604020202020204" pitchFamily="34" charset="0"/>
              <a:buChar char="•"/>
              <a:defRPr sz="1600">
                <a:solidFill>
                  <a:srgbClr val="FFFFFF"/>
                </a:solidFill>
                <a:latin typeface="Calibri"/>
              </a:defRPr>
            </a:pPr>
            <a:r>
              <a:rPr lang="en-US"/>
              <a:t>Basis/Infra scope inputs for NextGen need to be removed/disabled as this is out of scope</a:t>
            </a:r>
          </a:p>
          <a:p>
            <a:pPr marL="285750" indent="-285750">
              <a:buFont typeface="Arial" panose="020B0604020202020204" pitchFamily="34" charset="0"/>
              <a:buChar char="•"/>
              <a:defRPr sz="1600">
                <a:solidFill>
                  <a:srgbClr val="FFFFFF"/>
                </a:solidFill>
                <a:latin typeface="Calibri"/>
              </a:defRPr>
            </a:pPr>
            <a:r>
              <a:rPr lang="en-US"/>
              <a:t>OCM efforts seem to be on the higher side both in estimation and staffing, considering scope of implementation is majorly for PM/EAM Module. Need to be revisited</a:t>
            </a:r>
          </a:p>
          <a:p>
            <a:pPr marL="285750" indent="-285750">
              <a:buFont typeface="Arial" panose="020B0604020202020204" pitchFamily="34" charset="0"/>
              <a:buChar char="•"/>
              <a:defRPr sz="1600">
                <a:solidFill>
                  <a:srgbClr val="FFFFFF"/>
                </a:solidFill>
                <a:latin typeface="Calibri"/>
              </a:defRPr>
            </a:pPr>
            <a:r>
              <a:rPr lang="en-US"/>
              <a:t>Security hours in staffing are much higher than estimated, need to check the estimation inputs and/or staffing roles planned for this team</a:t>
            </a:r>
          </a:p>
          <a:p>
            <a:pPr marL="285750" indent="-285750">
              <a:buFont typeface="Arial" panose="020B0604020202020204" pitchFamily="34" charset="0"/>
              <a:buChar char="•"/>
              <a:defRPr sz="1600">
                <a:solidFill>
                  <a:srgbClr val="FFFFFF"/>
                </a:solidFill>
                <a:latin typeface="Calibri"/>
              </a:defRPr>
            </a:pPr>
            <a:r>
              <a:rPr lang="en-US"/>
              <a:t>Need to add Testing Lead Role in Staffing plan, currently this is missing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87c1e97-94d3-479c-9c22-3770e384fca5" xsi:nil="true"/>
    <lcf76f155ced4ddcb4097134ff3c332f xmlns="9002ec59-bd86-4fad-91aa-d46cd002d394">
      <Terms xmlns="http://schemas.microsoft.com/office/infopath/2007/PartnerControls"/>
    </lcf76f155ced4ddcb4097134ff3c332f>
    <Email_x0020_ID xmlns="9002ec59-bd86-4fad-91aa-d46cd002d394">[email]</Email_x0020_ID>
    <Full_x0020_Name xmlns="9002ec59-bd86-4fad-91aa-d46cd002d394">Author 1</Full_x0020_Na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757DFA308F81E499B3B9902D4984A33" ma:contentTypeVersion="19" ma:contentTypeDescription="Create a new document." ma:contentTypeScope="" ma:versionID="02ffbb7983745c27758667a546594e5c">
  <xsd:schema xmlns:xsd="http://www.w3.org/2001/XMLSchema" xmlns:xs="http://www.w3.org/2001/XMLSchema" xmlns:p="http://schemas.microsoft.com/office/2006/metadata/properties" xmlns:ns2="9002ec59-bd86-4fad-91aa-d46cd002d394" xmlns:ns3="087c1e97-94d3-479c-9c22-3770e384fca5" targetNamespace="http://schemas.microsoft.com/office/2006/metadata/properties" ma:root="true" ma:fieldsID="7706a187e41cba0220fc8f3976f06bcf" ns2:_="" ns3:_="">
    <xsd:import namespace="9002ec59-bd86-4fad-91aa-d46cd002d394"/>
    <xsd:import namespace="087c1e97-94d3-479c-9c22-3770e384fca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element ref="ns2:MediaServiceBillingMetadata" minOccurs="0"/>
                <xsd:element ref="ns2:lcf76f155ced4ddcb4097134ff3c332f" minOccurs="0"/>
                <xsd:element ref="ns3:TaxCatchAll" minOccurs="0"/>
                <xsd:element ref="ns2:MediaServiceOCR" minOccurs="0"/>
                <xsd:element ref="ns2:Full_x0020_Name"/>
                <xsd:element ref="ns2:Email_x0020_ID"/>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02ec59-bd86-4fad-91aa-d46cd002d3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BillingMetadata" ma:index="20" nillable="true" ma:displayName="MediaServiceBillingMetadata" ma:hidden="true" ma:internalName="MediaServiceBillingMetadata" ma:readOnly="true">
      <xsd:simpleType>
        <xsd:restriction base="dms:Note"/>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24" nillable="true" ma:displayName="Extracted Text" ma:internalName="MediaServiceOCR" ma:readOnly="true">
      <xsd:simpleType>
        <xsd:restriction base="dms:Note">
          <xsd:maxLength value="255"/>
        </xsd:restriction>
      </xsd:simpleType>
    </xsd:element>
    <xsd:element name="Full_x0020_Name" ma:index="25" ma:displayName="Full Name" ma:internalName="Full_x0020_Name">
      <xsd:simpleType>
        <xsd:restriction base="dms:Text"/>
      </xsd:simpleType>
    </xsd:element>
    <xsd:element name="Email_x0020_ID" ma:index="26" ma:displayName="Email ID" ma:internalName="Email_x0020_ID">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87c1e97-94d3-479c-9c22-3770e384fca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355b441d-30e3-4e18-a971-7f324cac4785}" ma:internalName="TaxCatchAll" ma:showField="CatchAllData" ma:web="087c1e97-94d3-479c-9c22-3770e384fca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31B8262-340D-429B-9F9F-A4C57CEDF463}">
  <ds:schemaRefs>
    <ds:schemaRef ds:uri="http://schemas.microsoft.com/sharepoint/v3/contenttype/forms"/>
  </ds:schemaRefs>
</ds:datastoreItem>
</file>

<file path=customXml/itemProps2.xml><?xml version="1.0" encoding="utf-8"?>
<ds:datastoreItem xmlns:ds="http://schemas.openxmlformats.org/officeDocument/2006/customXml" ds:itemID="{2BD82E2F-B2C6-4653-91FE-4D283386E093}">
  <ds:schemaRefs>
    <ds:schemaRef ds:uri="087c1e97-94d3-479c-9c22-3770e384fca5"/>
    <ds:schemaRef ds:uri="9002ec59-bd86-4fad-91aa-d46cd002d39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B4D8074E-6FE0-4FC8-A400-81EAE75DD37D}">
  <ds:schemaRefs>
    <ds:schemaRef ds:uri="087c1e97-94d3-479c-9c22-3770e384fca5"/>
    <ds:schemaRef ds:uri="9002ec59-bd86-4fad-91aa-d46cd002d3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revision>1</cp:revision>
  <dcterms:created xsi:type="dcterms:W3CDTF">2013-01-27T09:14:16Z</dcterms:created>
  <dcterms:modified xsi:type="dcterms:W3CDTF">2026-07-16T14:33:49Z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0x0101005757DFA308F81E499B3B9902D4984A33</vt:lpwstr>
  </property>
  <property fmtid="{D5CDD505-2E9C-101B-9397-08002B2CF9AE}" pid="3" name="MediaServiceImageTags">
    <vt:lpwstr/>
  </property>
</Properties>
</file>