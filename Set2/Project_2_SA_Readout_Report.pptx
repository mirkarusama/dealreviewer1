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9" r:id="rId7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58C28-576A-44BD-8723-3F3364CC3161}" v="49" dt="2026-07-08T15:16:05.127"/>
    <p1510:client id="{250C3A9B-4DD6-4A9D-8FB4-D77472A8E47D}" v="349" dt="2026-07-08T07:13:11.292"/>
    <p1510:client id="{70419DC4-A52A-42CE-BF26-91F143568C13}" v="233" dt="2026-07-08T07:39:47.584"/>
    <p1510:client id="{C3DC6155-95BB-4509-AA08-53E3C32FF2E6}" v="4919" dt="2026-07-08T15:27:00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thor 1" userId="" providerId="ADAL" clId="{D415FF06-F07C-4397-BF62-C7B061B56D4F}"/>
    <pc:docChg chg="undo custSel addSld delSld modSld">
      <pc:chgData name="Author 1" userId="" providerId="ADAL" clId="{D415FF06-F07C-4397-BF62-C7B061B56D4F}" dt="2026-07-08T15:27:00.971" v="5416" actId="20577"/>
      <pc:docMkLst>
        <pc:docMk/>
      </pc:docMkLst>
      <pc:sldChg chg="modSp mod">
        <pc:chgData name="Author 1" userId="" providerId="ADAL" clId="{D415FF06-F07C-4397-BF62-C7B061B56D4F}" dt="2026-07-08T15:27:00.971" v="5416" actId="20577"/>
        <pc:sldMkLst>
          <pc:docMk/>
          <pc:sldMk cId="0" sldId="256"/>
        </pc:sldMkLst>
        <pc:spChg chg="mod">
          <ac:chgData name="Author 1" userId="" providerId="ADAL" clId="{D415FF06-F07C-4397-BF62-C7B061B56D4F}" dt="2026-07-08T12:53:18.584" v="181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uthor 1" userId="" providerId="ADAL" clId="{D415FF06-F07C-4397-BF62-C7B061B56D4F}" dt="2026-07-08T14:09:33.737" v="5050" actId="1035"/>
          <ac:spMkLst>
            <pc:docMk/>
            <pc:sldMk cId="0" sldId="256"/>
            <ac:spMk id="22" creationId="{355A6714-5BB9-2BCE-BF2C-C2F1E91EFFE1}"/>
          </ac:spMkLst>
        </pc:spChg>
        <pc:spChg chg="mod">
          <ac:chgData name="Author 1" userId="" providerId="ADAL" clId="{D415FF06-F07C-4397-BF62-C7B061B56D4F}" dt="2026-07-08T13:50:25.971" v="4900" actId="1076"/>
          <ac:spMkLst>
            <pc:docMk/>
            <pc:sldMk cId="0" sldId="256"/>
            <ac:spMk id="24" creationId="{9D1655E0-B126-200D-1042-169E4FA2C9A3}"/>
          </ac:spMkLst>
        </pc:spChg>
        <pc:graphicFrameChg chg="modGraphic">
          <ac:chgData name="Author 1" userId="" providerId="ADAL" clId="{D415FF06-F07C-4397-BF62-C7B061B56D4F}" dt="2026-07-08T15:17:21.497" v="5382" actId="20577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Author 1" userId="" providerId="ADAL" clId="{D415FF06-F07C-4397-BF62-C7B061B56D4F}" dt="2026-07-08T15:27:00.971" v="5416" actId="20577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 mod">
        <pc:chgData name="Author 1" userId="" providerId="ADAL" clId="{D415FF06-F07C-4397-BF62-C7B061B56D4F}" dt="2026-07-08T14:17:41.672" v="5291" actId="20577"/>
        <pc:sldMkLst>
          <pc:docMk/>
          <pc:sldMk cId="0" sldId="257"/>
        </pc:sldMkLst>
        <pc:graphicFrameChg chg="mod modGraphic">
          <ac:chgData name="Author 1" userId="" providerId="ADAL" clId="{D415FF06-F07C-4397-BF62-C7B061B56D4F}" dt="2026-07-08T14:17:41.672" v="5291" actId="20577"/>
          <ac:graphicFrameMkLst>
            <pc:docMk/>
            <pc:sldMk cId="0" sldId="257"/>
            <ac:graphicFrameMk id="3" creationId="{00000000-0000-0000-0000-000000000000}"/>
          </ac:graphicFrameMkLst>
        </pc:graphicFrameChg>
        <pc:graphicFrameChg chg="modGraphic">
          <ac:chgData name="Author 1" userId="" providerId="ADAL" clId="{D415FF06-F07C-4397-BF62-C7B061B56D4F}" dt="2026-07-08T13:34:15.213" v="4368" actId="20577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addSp modSp mod">
        <pc:chgData name="Author 1" userId="" providerId="ADAL" clId="{D415FF06-F07C-4397-BF62-C7B061B56D4F}" dt="2026-07-08T15:16:51.949" v="5378" actId="20577"/>
        <pc:sldMkLst>
          <pc:docMk/>
          <pc:sldMk cId="0" sldId="259"/>
        </pc:sldMkLst>
        <pc:spChg chg="mod">
          <ac:chgData name="Author 1" userId="" providerId="ADAL" clId="{D415FF06-F07C-4397-BF62-C7B061B56D4F}" dt="2026-07-08T15:08:15.052" v="532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uthor 1" userId="" providerId="ADAL" clId="{D415FF06-F07C-4397-BF62-C7B061B56D4F}" dt="2026-07-08T15:16:30.012" v="5373" actId="20577"/>
          <ac:spMkLst>
            <pc:docMk/>
            <pc:sldMk cId="0" sldId="259"/>
            <ac:spMk id="5" creationId="{00000000-0000-0000-0000-000000000000}"/>
          </ac:spMkLst>
        </pc:spChg>
        <pc:graphicFrameChg chg="mod modGraphic">
          <ac:chgData name="Author 1" userId="" providerId="ADAL" clId="{D415FF06-F07C-4397-BF62-C7B061B56D4F}" dt="2026-07-08T15:16:51.949" v="5378" actId="20577"/>
          <ac:graphicFrameMkLst>
            <pc:docMk/>
            <pc:sldMk cId="0" sldId="259"/>
            <ac:graphicFrameMk id="3" creationId="{00000000-0000-0000-0000-000000000000}"/>
          </ac:graphicFrameMkLst>
        </pc:graphicFrameChg>
        <pc:graphicFrameChg chg="add mod">
          <ac:chgData name="Author 1" userId="" providerId="ADAL" clId="{D415FF06-F07C-4397-BF62-C7B061B56D4F}" dt="2026-07-08T09:34:06.903" v="1621"/>
          <ac:graphicFrameMkLst>
            <pc:docMk/>
            <pc:sldMk cId="0" sldId="259"/>
            <ac:graphicFrameMk id="6" creationId="{F3CDF557-2419-1687-692B-BF2E85432B53}"/>
          </ac:graphicFrameMkLst>
        </pc:graphicFrameChg>
      </pc:sldChg>
      <pc:sldChg chg="add del mod modShow">
        <pc:chgData name="Author 1" userId="" providerId="ADAL" clId="{D415FF06-F07C-4397-BF62-C7B061B56D4F}" dt="2026-07-08T09:30:05.213" v="1044" actId="47"/>
        <pc:sldMkLst>
          <pc:docMk/>
          <pc:sldMk cId="1956794896" sldId="260"/>
        </pc:sldMkLst>
      </pc:sldChg>
    </pc:docChg>
  </pc:docChgLst>
  <pc:docChgLst>
    <pc:chgData name="Author 2" userId="" providerId="ADAL" clId="{EA1BAA23-398A-48FD-BEC5-954CD893CA78}"/>
    <pc:docChg chg="modSld">
      <pc:chgData name="Author 2" userId="" providerId="ADAL" clId="{EA1BAA23-398A-48FD-BEC5-954CD893CA78}" dt="2026-07-08T15:16:05.127" v="48" actId="1076"/>
      <pc:docMkLst>
        <pc:docMk/>
      </pc:docMkLst>
      <pc:sldChg chg="modSp mod">
        <pc:chgData name="Author 2" userId="" providerId="ADAL" clId="{EA1BAA23-398A-48FD-BEC5-954CD893CA78}" dt="2026-07-08T15:13:04.466" v="45" actId="1076"/>
        <pc:sldMkLst>
          <pc:docMk/>
          <pc:sldMk cId="0" sldId="256"/>
        </pc:sldMkLst>
        <pc:spChg chg="mod">
          <ac:chgData name="Author 2" userId="" providerId="ADAL" clId="{EA1BAA23-398A-48FD-BEC5-954CD893CA78}" dt="2026-07-08T09:20:14.602" v="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uthor 2" userId="" providerId="ADAL" clId="{EA1BAA23-398A-48FD-BEC5-954CD893CA78}" dt="2026-07-08T09:19:05.119" v="0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Author 2" userId="" providerId="ADAL" clId="{EA1BAA23-398A-48FD-BEC5-954CD893CA78}" dt="2026-07-08T09:19:38.165" v="2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Author 2" userId="" providerId="ADAL" clId="{EA1BAA23-398A-48FD-BEC5-954CD893CA78}" dt="2026-07-08T15:13:04.466" v="45" actId="1076"/>
          <ac:spMkLst>
            <pc:docMk/>
            <pc:sldMk cId="0" sldId="256"/>
            <ac:spMk id="18" creationId="{4364DA03-F6EA-2A2A-0A86-F2628BAC2A53}"/>
          </ac:spMkLst>
        </pc:spChg>
        <pc:spChg chg="mod">
          <ac:chgData name="Author 2" userId="" providerId="ADAL" clId="{EA1BAA23-398A-48FD-BEC5-954CD893CA78}" dt="2026-07-08T15:12:59.806" v="44" actId="1076"/>
          <ac:spMkLst>
            <pc:docMk/>
            <pc:sldMk cId="0" sldId="256"/>
            <ac:spMk id="19" creationId="{1EBF2699-5F93-5817-8C92-553748AE3CA7}"/>
          </ac:spMkLst>
        </pc:spChg>
        <pc:spChg chg="mod">
          <ac:chgData name="Author 2" userId="" providerId="ADAL" clId="{EA1BAA23-398A-48FD-BEC5-954CD893CA78}" dt="2026-07-08T15:12:46.298" v="41" actId="1076"/>
          <ac:spMkLst>
            <pc:docMk/>
            <pc:sldMk cId="0" sldId="256"/>
            <ac:spMk id="20" creationId="{CCDD3B22-28A8-EC25-77BA-07514A2665C4}"/>
          </ac:spMkLst>
        </pc:spChg>
        <pc:spChg chg="mod">
          <ac:chgData name="Author 2" userId="" providerId="ADAL" clId="{EA1BAA23-398A-48FD-BEC5-954CD893CA78}" dt="2026-07-08T15:12:51.665" v="42" actId="1076"/>
          <ac:spMkLst>
            <pc:docMk/>
            <pc:sldMk cId="0" sldId="256"/>
            <ac:spMk id="21" creationId="{86C43CA5-2B74-A3AE-9BD1-7F787F769B3B}"/>
          </ac:spMkLst>
        </pc:spChg>
        <pc:spChg chg="mod">
          <ac:chgData name="Author 2" userId="" providerId="ADAL" clId="{EA1BAA23-398A-48FD-BEC5-954CD893CA78}" dt="2026-07-08T15:12:23.685" v="37" actId="1076"/>
          <ac:spMkLst>
            <pc:docMk/>
            <pc:sldMk cId="0" sldId="256"/>
            <ac:spMk id="22" creationId="{355A6714-5BB9-2BCE-BF2C-C2F1E91EFFE1}"/>
          </ac:spMkLst>
        </pc:spChg>
        <pc:spChg chg="mod">
          <ac:chgData name="Author 2" userId="" providerId="ADAL" clId="{EA1BAA23-398A-48FD-BEC5-954CD893CA78}" dt="2026-07-08T09:23:46.300" v="24" actId="1076"/>
          <ac:spMkLst>
            <pc:docMk/>
            <pc:sldMk cId="0" sldId="256"/>
            <ac:spMk id="23" creationId="{2EBAF8CF-9F62-BBD4-3606-E4555615EB4E}"/>
          </ac:spMkLst>
        </pc:spChg>
        <pc:spChg chg="mod">
          <ac:chgData name="Author 2" userId="" providerId="ADAL" clId="{EA1BAA23-398A-48FD-BEC5-954CD893CA78}" dt="2026-07-08T15:12:19.535" v="36" actId="1076"/>
          <ac:spMkLst>
            <pc:docMk/>
            <pc:sldMk cId="0" sldId="256"/>
            <ac:spMk id="24" creationId="{9D1655E0-B126-200D-1042-169E4FA2C9A3}"/>
          </ac:spMkLst>
        </pc:spChg>
        <pc:graphicFrameChg chg="mod modGraphic">
          <ac:chgData name="Author 2" userId="" providerId="ADAL" clId="{EA1BAA23-398A-48FD-BEC5-954CD893CA78}" dt="2026-07-08T15:12:16.396" v="35" actId="14734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Author 2" userId="" providerId="ADAL" clId="{EA1BAA23-398A-48FD-BEC5-954CD893CA78}" dt="2026-07-08T15:12:41.882" v="40" actId="14100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 mod">
        <pc:chgData name="Author 2" userId="" providerId="ADAL" clId="{EA1BAA23-398A-48FD-BEC5-954CD893CA78}" dt="2026-07-08T15:15:53.691" v="46" actId="1076"/>
        <pc:sldMkLst>
          <pc:docMk/>
          <pc:sldMk cId="0" sldId="257"/>
        </pc:sldMkLst>
        <pc:graphicFrameChg chg="mod">
          <ac:chgData name="Author 2" userId="" providerId="ADAL" clId="{EA1BAA23-398A-48FD-BEC5-954CD893CA78}" dt="2026-07-08T15:15:53.691" v="46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modSp mod">
        <pc:chgData name="Author 2" userId="" providerId="ADAL" clId="{EA1BAA23-398A-48FD-BEC5-954CD893CA78}" dt="2026-07-08T15:16:05.127" v="48" actId="1076"/>
        <pc:sldMkLst>
          <pc:docMk/>
          <pc:sldMk cId="0" sldId="259"/>
        </pc:sldMkLst>
        <pc:spChg chg="mod">
          <ac:chgData name="Author 2" userId="" providerId="ADAL" clId="{EA1BAA23-398A-48FD-BEC5-954CD893CA78}" dt="2026-07-08T15:16:02.040" v="4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uthor 2" userId="" providerId="ADAL" clId="{EA1BAA23-398A-48FD-BEC5-954CD893CA78}" dt="2026-07-08T15:16:05.127" v="48" actId="1076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EE8DF-8E77-4DC9-A9FC-C54DC513D7D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A1AEA-4D37-4F58-9493-AA8B30AEC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6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A1AEA-4D37-4F58-9493-AA8B30AEC5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90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" y="18288"/>
            <a:ext cx="762401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 Readout Summary</a:t>
            </a:r>
            <a:r>
              <a:rPr lang="en-US"/>
              <a:t> – Project 2 </a:t>
            </a:r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711281" y="18288"/>
          <a:ext cx="544982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Solution Complexity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Other Offerings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Deployment Timeline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Staffing &amp; Resource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3061289" y="420624"/>
            <a:ext cx="219456" cy="219456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786201" y="64008"/>
            <a:ext cx="219456" cy="219456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786201" y="429768"/>
            <a:ext cx="219456" cy="219456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491661"/>
              </p:ext>
            </p:extLst>
          </p:nvPr>
        </p:nvGraphicFramePr>
        <p:xfrm>
          <a:off x="99568" y="703580"/>
          <a:ext cx="16066008" cy="338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Solution Complexity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7963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Solution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The current proposal is to migrate Project 2 existing ECC solution to S4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Solution scope in the response includes Finance, Customer Sales and Service, Warehouse and Logistics, Procurement, Service Management and Warranty, Manufacturing, Quality , Plant Maintenance, Data and Development teams.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Infra, Boundary Apps , Change Management and Data Analytics &amp; Reporting Platforms are out of scope for Deloitte and owned by Client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Process scope is adequately captured in the response document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Timelines are adequately planned in the response document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The response has required Deloitte Tools and Accelerators called out including GenAI tools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Integration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+mn-lt"/>
                        </a:rPr>
                        <a:t>•  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The integration between various source and boundary systems are adequately captured in the response document</a:t>
                      </a:r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Geographic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•   The 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</a:rPr>
                        <a:t>response documents lacks clarity on the geographic scope. Needs to be included. 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13010"/>
              </p:ext>
            </p:extLst>
          </p:nvPr>
        </p:nvGraphicFramePr>
        <p:xfrm>
          <a:off x="94996" y="4143757"/>
          <a:ext cx="16066008" cy="421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552">
                <a:tc gridSpan="3"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Staffing &amp; Resource Mix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11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Solution Coverage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Lack of clarity on MDG and GTS E4H scope, dependencies, and timeline impacts on the Brownfield+ migration. Assumptions, RACI, and any required timeline adjustments need to be assessed and documented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 Including ~8,000 defects and ~400 objects within the current Build phase effort (~32K hours) poses significant delivery risk. Development effort allocation should be revisited and phased appropriately across activities and project stages.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26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Resource Mix/Coverage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+mn-lt"/>
                        </a:rPr>
                        <a:t>Onsite-offshore mix stands at 17.5% and 82.5%. Suggest increasing onsite coverage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+mn-lt"/>
                        </a:rPr>
                        <a:t>Overall and USI Bulge Ratio at 0.76 and 1.05 are below than the benchmark of 1.6 and 1.9, respectively. Need to adjust staffing mix to meet the Bulge ratio benchmarks.</a:t>
                      </a:r>
                      <a:endParaRPr lang="en-US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USI/DC Leverage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+mn-lt"/>
                        </a:rPr>
                        <a:t>Recommend to leverage USDC &amp; ARDC resources for better US coverage and cost efficiency</a:t>
                      </a:r>
                      <a:endParaRPr lang="en-US" sz="1800"/>
                    </a:p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996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Staffing Estimates vs Actual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</a:rPr>
                        <a:t>USI MD and SM staffing hours % (0.16, 1.4) are below benchmarks %(0.3, 2.5), adjust to increase the hours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</a:rPr>
                        <a:t>Revise the ramp-up and ramp-down plan across teams to align resources with phase-wise scope and workload.</a:t>
                      </a:r>
                      <a:endParaRPr lang="en-US" sz="18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4364DA03-F6EA-2A2A-0A86-F2628BAC2A53}"/>
              </a:ext>
            </a:extLst>
          </p:cNvPr>
          <p:cNvSpPr/>
          <p:nvPr/>
        </p:nvSpPr>
        <p:spPr>
          <a:xfrm>
            <a:off x="2378118" y="4736524"/>
            <a:ext cx="292608" cy="292608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F2699-5F93-5817-8C92-553748AE3CA7}"/>
              </a:ext>
            </a:extLst>
          </p:cNvPr>
          <p:cNvSpPr/>
          <p:nvPr/>
        </p:nvSpPr>
        <p:spPr>
          <a:xfrm>
            <a:off x="2378118" y="5771867"/>
            <a:ext cx="292608" cy="292608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DD3B22-28A8-EC25-77BA-07514A2665C4}"/>
              </a:ext>
            </a:extLst>
          </p:cNvPr>
          <p:cNvSpPr/>
          <p:nvPr/>
        </p:nvSpPr>
        <p:spPr>
          <a:xfrm>
            <a:off x="2378118" y="6448446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C43CA5-2B74-A3AE-9BD1-7F787F769B3B}"/>
              </a:ext>
            </a:extLst>
          </p:cNvPr>
          <p:cNvSpPr/>
          <p:nvPr/>
        </p:nvSpPr>
        <p:spPr>
          <a:xfrm>
            <a:off x="2378118" y="7257101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5A6714-5BB9-2BCE-BF2C-C2F1E91EFFE1}"/>
              </a:ext>
            </a:extLst>
          </p:cNvPr>
          <p:cNvSpPr/>
          <p:nvPr/>
        </p:nvSpPr>
        <p:spPr>
          <a:xfrm>
            <a:off x="2378118" y="2962110"/>
            <a:ext cx="292608" cy="292608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BAF8CF-9F62-BBD4-3606-E4555615EB4E}"/>
              </a:ext>
            </a:extLst>
          </p:cNvPr>
          <p:cNvSpPr/>
          <p:nvPr/>
        </p:nvSpPr>
        <p:spPr>
          <a:xfrm>
            <a:off x="2379557" y="1205798"/>
            <a:ext cx="292608" cy="292608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1655E0-B126-200D-1042-169E4FA2C9A3}"/>
              </a:ext>
            </a:extLst>
          </p:cNvPr>
          <p:cNvSpPr/>
          <p:nvPr/>
        </p:nvSpPr>
        <p:spPr>
          <a:xfrm>
            <a:off x="2378118" y="3557557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752FE6-5FD5-963F-7E1E-1F7C63C76E69}"/>
              </a:ext>
            </a:extLst>
          </p:cNvPr>
          <p:cNvSpPr/>
          <p:nvPr/>
        </p:nvSpPr>
        <p:spPr>
          <a:xfrm>
            <a:off x="13061289" y="64008"/>
            <a:ext cx="219456" cy="219456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" y="18288"/>
            <a:ext cx="2386584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 Readout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38775"/>
              </p:ext>
            </p:extLst>
          </p:nvPr>
        </p:nvGraphicFramePr>
        <p:xfrm>
          <a:off x="95097" y="822960"/>
          <a:ext cx="16066008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6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</a:rPr>
                        <a:t>Other Recommendations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4"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MDG and GTS scope should be explicitly defined to ensure alignment on deliverables, ownership, and expected outcomes.</a:t>
                      </a:r>
                    </a:p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Current Finance staffing appears insufficient given that Group Reporting, Treasury, and Margin Analysis are also within scope. Additional resourcing should be considered to mitigate delivery risk.</a:t>
                      </a:r>
                    </a:p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Stockroom Management is proposed for Warehousing; a detailed fit-gap assessment is recommended to identify any functionalities supported in the current landscape that may not be available in the target solution.</a:t>
                      </a:r>
                    </a:p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Performance Testing and Stress Testing scope, assumptions should be further detailed to ensure clear expectations and adequate planning.</a:t>
                      </a:r>
                    </a:p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Please have the COE team review and validate the efficiency of the tools called out in the response document. 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600">
                        <a:solidFill>
                          <a:srgbClr val="FFFFFF"/>
                        </a:solidFill>
                        <a:latin typeface="+mn-lt"/>
                      </a:endParaRPr>
                    </a:p>
                    <a:p>
                      <a:pPr marL="28575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>
                        <a:solidFill>
                          <a:srgbClr val="FFFFFF"/>
                        </a:solidFill>
                        <a:latin typeface="+mn-lt"/>
                      </a:endParaRPr>
                    </a:p>
                    <a:p>
                      <a:endParaRPr lang="en-US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73946"/>
              </p:ext>
            </p:extLst>
          </p:nvPr>
        </p:nvGraphicFramePr>
        <p:xfrm>
          <a:off x="95097" y="3977640"/>
          <a:ext cx="1606600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6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Other Offerings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+mn-lt"/>
                        </a:rPr>
                        <a:t>Staffing included for Tax, Cyber (Security), Human Capital (OCM) and EFA</a:t>
                      </a:r>
                    </a:p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" y="18288"/>
            <a:ext cx="2386584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NextGen Estimation Vs Staffing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427466"/>
              </p:ext>
            </p:extLst>
          </p:nvPr>
        </p:nvGraphicFramePr>
        <p:xfrm>
          <a:off x="371824" y="857206"/>
          <a:ext cx="871201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Teams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NextGen Hours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FFFFFF"/>
                          </a:solidFill>
                          <a:latin typeface="Calibri"/>
                        </a:rPr>
                        <a:t>Staffing Plan </a:t>
                      </a: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Data 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8,593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FFFFFF"/>
                          </a:solidFill>
                          <a:latin typeface="Calibri"/>
                        </a:rPr>
                        <a:t>23655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15062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Deployment (Cutover)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788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FFFFFF"/>
                          </a:solidFill>
                          <a:latin typeface="Calibri"/>
                        </a:rPr>
                        <a:t>4365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3577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99,754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100855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79995</a:t>
                      </a:r>
                      <a:endParaRPr lang="en-IN" sz="1800" kern="1200">
                        <a:solidFill>
                          <a:srgbClr val="FFFFF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187680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107685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17,030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-17030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Organizational Change Management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15,388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24488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9100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Project Management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11,218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14322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3104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Security &amp; Controls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11,095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16256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5161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Testing 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4834</a:t>
                      </a:r>
                      <a:endParaRPr lang="en-IN" sz="1800" kern="1200">
                        <a:solidFill>
                          <a:srgbClr val="FFFFF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solidFill>
                            <a:srgbClr val="FFFFFF"/>
                          </a:solidFill>
                          <a:latin typeface="Calibri"/>
                        </a:rPr>
                        <a:t>4040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-794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8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2,48,695</a:t>
                      </a:r>
                    </a:p>
                  </a:txBody>
                  <a:tcPr marL="0" marR="0" marT="0" marB="0" anchor="b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r>
                        <a:rPr lang="en-US" sz="1800">
                          <a:solidFill>
                            <a:srgbClr val="FFFFFF"/>
                          </a:solidFill>
                          <a:latin typeface="Calibri"/>
                        </a:rPr>
                        <a:t>75661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/>
                      <a:endParaRPr sz="1800" kern="1200">
                        <a:solidFill>
                          <a:srgbClr val="FFFFF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3539" y="5289716"/>
            <a:ext cx="16002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Notes: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539" y="6128634"/>
            <a:ext cx="132948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/>
              <a:t>Overall,  Staffing plan exceeds NextGen estimate by ~ 126K hours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/>
              <a:t>Data and Functional efforts show significant variance vs NextGen estimates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/>
              <a:t>Average RICEFW development effort currently stands at ~180 hrs/object, this is below the required benchmark (~250 hrs/object). Need to revisit development efforts and staffing.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Calibri"/>
              </a:defRPr>
            </a:pPr>
            <a:br>
              <a:rPr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7c1e97-94d3-479c-9c22-3770e384fca5" xsi:nil="true"/>
    <lcf76f155ced4ddcb4097134ff3c332f xmlns="9002ec59-bd86-4fad-91aa-d46cd002d394">
      <Terms xmlns="http://schemas.microsoft.com/office/infopath/2007/PartnerControls"/>
    </lcf76f155ced4ddcb4097134ff3c332f>
    <Email_x0020_ID xmlns="9002ec59-bd86-4fad-91aa-d46cd002d394">[email]</Email_x0020_ID>
    <Full_x0020_Name xmlns="9002ec59-bd86-4fad-91aa-d46cd002d394">Author 1</Full_x0020_Name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7DFA308F81E499B3B9902D4984A33" ma:contentTypeVersion="19" ma:contentTypeDescription="Create a new document." ma:contentTypeScope="" ma:versionID="02ffbb7983745c27758667a546594e5c">
  <xsd:schema xmlns:xsd="http://www.w3.org/2001/XMLSchema" xmlns:xs="http://www.w3.org/2001/XMLSchema" xmlns:p="http://schemas.microsoft.com/office/2006/metadata/properties" xmlns:ns2="9002ec59-bd86-4fad-91aa-d46cd002d394" xmlns:ns3="087c1e97-94d3-479c-9c22-3770e384fca5" targetNamespace="http://schemas.microsoft.com/office/2006/metadata/properties" ma:root="true" ma:fieldsID="7706a187e41cba0220fc8f3976f06bcf" ns2:_="" ns3:_="">
    <xsd:import namespace="9002ec59-bd86-4fad-91aa-d46cd002d394"/>
    <xsd:import namespace="087c1e97-94d3-479c-9c22-3770e384f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ll_x0020_Name"/>
                <xsd:element ref="ns2:Email_x0020_ID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02ec59-bd86-4fad-91aa-d46cd002d3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ll_x0020_Name" ma:index="25" ma:displayName="Full Name" ma:internalName="Full_x0020_Name">
      <xsd:simpleType>
        <xsd:restriction base="dms:Text"/>
      </xsd:simpleType>
    </xsd:element>
    <xsd:element name="Email_x0020_ID" ma:index="26" ma:displayName="Email ID" ma:internalName="Email_x0020_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c1e97-94d3-479c-9c22-3770e384f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55b441d-30e3-4e18-a971-7f324cac4785}" ma:internalName="TaxCatchAll" ma:showField="CatchAllData" ma:web="087c1e97-94d3-479c-9c22-3770e384fc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359F68-D9D8-4EF4-9AD0-3AC846448E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2466BC-071C-4B0D-86B1-D993A4F2C228}">
  <ds:schemaRefs>
    <ds:schemaRef ds:uri="087c1e97-94d3-479c-9c22-3770e384fca5"/>
    <ds:schemaRef ds:uri="9002ec59-bd86-4fad-91aa-d46cd002d39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75D5F45-220F-457D-B297-2CA751B4D942}">
  <ds:schemaRefs>
    <ds:schemaRef ds:uri="087c1e97-94d3-479c-9c22-3770e384fca5"/>
    <ds:schemaRef ds:uri="9002ec59-bd86-4fad-91aa-d46cd002d3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2026-07-08T15:27:03Z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0x0101005757DFA308F81E499B3B9902D4984A33</vt:lpwstr>
  </property>
  <property fmtid="{D5CDD505-2E9C-101B-9397-08002B2CF9AE}" pid="3" name="MediaServiceImageTags">
    <vt:lpwstr/>
  </property>
</Properties>
</file>